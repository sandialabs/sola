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61" r:id="rId4"/>
    <p:sldId id="262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655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6227C"/>
    <a:srgbClr val="0A84B2"/>
    <a:srgbClr val="FF9A77"/>
    <a:srgbClr val="6CFFE4"/>
    <a:srgbClr val="0F9E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389"/>
    <p:restoredTop sz="96327"/>
  </p:normalViewPr>
  <p:slideViewPr>
    <p:cSldViewPr snapToGrid="0">
      <p:cViewPr varScale="1">
        <p:scale>
          <a:sx n="155" d="100"/>
          <a:sy n="155" d="100"/>
        </p:scale>
        <p:origin x="200" y="232"/>
      </p:cViewPr>
      <p:guideLst>
        <p:guide orient="horz" pos="2160"/>
        <p:guide pos="65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917A-3D2A-580A-62A1-7348A38F4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5501C7-3176-18F8-E5AA-2E05B5F9AC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D49018-422C-8700-C460-26C002702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AD0F45-50E3-9BD9-9559-DE342E6B4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F83A0F-8D81-3E78-ADD3-BA91266CC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200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9D5E9-DB6C-9E1D-AC71-B2F4BDB51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EF683D-0FAB-A296-BF30-821DDB325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02C528-E8DC-A226-941D-3F7CC012E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8A8C78-79AA-AD26-F988-7C16D2602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B1F3A0-C309-71EE-7792-77C9D475F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866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58470-32B2-61E5-F67B-49ED76044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676A82-F8B6-15E5-15BF-9DCFCAF192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5E308-EA25-F71E-E3A5-D80CBBFE3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EF881-0C9B-31E4-35E8-19B1418DB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297BE6-CE5F-FD2E-AD13-6839E8843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963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E5C6B-9B7D-748B-4FC3-1E322E2C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B572B8-F6BB-4BE1-AB5D-449927F686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AF3B40-77EA-9EA9-0C13-396E3C2F17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ED26-BD13-7953-51DF-7093AC9FB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361A9E-1D44-B4B7-C640-830474338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77902-CD2E-BFD0-0E1D-64B188E0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440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5977F-A6BF-2D25-5EEB-07C4D95B5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A61F3B-FE36-719A-8CCF-9CE22167A2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02CFED-65A7-9D5C-B6FE-24D7608C38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D8C695-1D3E-0575-8E98-7916731252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F15765-C4F4-BA6D-F3F2-2139F432AB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F2F768-821C-0CF2-86E1-8DB594737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75E0A3-10A7-EC19-38DB-F0E7398FD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0068D6-A902-79E1-E726-FA99AC5C9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298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ABF9A-08D0-B6FE-6E68-229707DB6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39B5AA-AADD-2F31-6613-2CBE46ACC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B2114B-8090-7777-8811-0BCCF4232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9948E-CE7F-07A1-BF9E-423053EE5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637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6B65DF-A1A3-B2C6-EFC3-5DD627A5D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71131D-DD1B-2B4D-BA01-76F348204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987AEE-E57C-4246-7D7E-B3C46C80B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123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57E05-8CD8-6D44-E772-E9AAB052D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3313A-06B1-A647-0538-394ED0FD4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AB1627-2852-EF7E-AE5A-0A3B310B9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87D1C1-C9CF-65B3-D8EE-497233265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7324A4-0962-E11D-0293-A9DA21708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7BC174-6203-BF70-1F35-FFB2FB738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790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E6159-6490-B92C-F20D-B428BD3B3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3E966E-1B81-30C9-6A29-E0F353D145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BC9A23-DF9D-27E2-717C-25639A2037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6AD325-2C74-6674-6B38-B913DA177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9DD20-AA72-2258-26D9-E5C749197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3DE79-E2C7-6A45-222E-6DCB38FB7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430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DB8CE-922E-1EAE-2F45-855F9A002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221CD9-1607-EE2C-02A4-7BBCC58A96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07D366-91F4-EB0A-A691-FB74E1087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95AD8B-6BD4-229A-6889-73041600F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DE4088-584C-6DB3-FD89-D9E59017B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11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C250FB-2443-D0BE-8970-4CC9932F2A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4AD7F-1F7A-06A9-4967-13D97D89E2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B37C9-578A-9C67-8147-AFD35A19B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7A4ACA-080D-2846-BC7A-301AD37AA2EA}" type="datetimeFigureOut">
              <a:rPr lang="en-US" smtClean="0"/>
              <a:t>6/24/25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4613E-B888-38F9-B980-D76E5A02D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55BF71-C5C9-D003-66AE-C8E8C1DAD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2896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91A78F-B9B4-E6F3-3C7B-AE59748BC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020FA1-9D8C-A6F9-E53C-28DB2D9DA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63BE51-211B-F720-4345-D51F373687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7A4ACA-080D-2846-BC7A-301AD37AA2EA}" type="datetimeFigureOut">
              <a:rPr lang="en-US" smtClean="0"/>
              <a:t>6/24/25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BCBE30-452D-07DB-2359-096AD6959B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ED0A1-AE11-D5FF-83D1-0AA43F75C1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D8ADC5-77D2-384B-A75C-196E3C2AF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672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Relationship Id="rId9" Type="http://schemas.openxmlformats.org/officeDocument/2006/relationships/image" Target="../media/image8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7" Type="http://schemas.openxmlformats.org/officeDocument/2006/relationships/image" Target="../media/image10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emf"/><Relationship Id="rId5" Type="http://schemas.openxmlformats.org/officeDocument/2006/relationships/image" Target="../media/image8.emf"/><Relationship Id="rId4" Type="http://schemas.openxmlformats.org/officeDocument/2006/relationships/image" Target="../media/image6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emf"/><Relationship Id="rId3" Type="http://schemas.openxmlformats.org/officeDocument/2006/relationships/image" Target="../media/image2.emf"/><Relationship Id="rId7" Type="http://schemas.openxmlformats.org/officeDocument/2006/relationships/image" Target="../media/image7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emf"/><Relationship Id="rId5" Type="http://schemas.openxmlformats.org/officeDocument/2006/relationships/image" Target="../media/image16.emf"/><Relationship Id="rId4" Type="http://schemas.openxmlformats.org/officeDocument/2006/relationships/image" Target="../media/image3.emf"/><Relationship Id="rId9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7F5077D-AADB-A74F-4381-9E4A71860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25A1717-EF5E-4E81-3547-BFF19DAA9735}"/>
              </a:ext>
            </a:extLst>
          </p:cNvPr>
          <p:cNvSpPr/>
          <p:nvPr/>
        </p:nvSpPr>
        <p:spPr>
          <a:xfrm>
            <a:off x="8501448" y="148281"/>
            <a:ext cx="3599303" cy="639882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310A75-8F00-ECDE-87D5-0BF289DFFB3B}"/>
              </a:ext>
            </a:extLst>
          </p:cNvPr>
          <p:cNvSpPr/>
          <p:nvPr/>
        </p:nvSpPr>
        <p:spPr>
          <a:xfrm>
            <a:off x="135934" y="148281"/>
            <a:ext cx="7858882" cy="639882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342879C-E7BB-FDDB-25BF-A2B63BB81216}"/>
                  </a:ext>
                </a:extLst>
              </p:cNvPr>
              <p:cNvSpPr/>
              <p:nvPr/>
            </p:nvSpPr>
            <p:spPr>
              <a:xfrm>
                <a:off x="4464428" y="2731071"/>
                <a:ext cx="3263144" cy="145666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Discrepancy Posterior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𝑝𝑜𝑠𝑡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342879C-E7BB-FDDB-25BF-A2B63BB812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428" y="2731071"/>
                <a:ext cx="3263144" cy="14566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AF06798-4C7B-59F4-61B3-92A61FC76EEE}"/>
                  </a:ext>
                </a:extLst>
              </p:cNvPr>
              <p:cNvSpPr/>
              <p:nvPr/>
            </p:nvSpPr>
            <p:spPr>
              <a:xfrm>
                <a:off x="231424" y="573329"/>
                <a:ext cx="3263144" cy="145666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Prior Distribution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AF06798-4C7B-59F4-61B3-92A61FC76E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424" y="573329"/>
                <a:ext cx="3263144" cy="14566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A76BBC5-E840-74DD-A75D-8CE3B905A94F}"/>
                  </a:ext>
                </a:extLst>
              </p:cNvPr>
              <p:cNvSpPr/>
              <p:nvPr/>
            </p:nvSpPr>
            <p:spPr>
              <a:xfrm>
                <a:off x="231424" y="4894130"/>
                <a:ext cx="3263144" cy="145666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Noise Model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∼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</m:t>
                      </m:r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A76BBC5-E840-74DD-A75D-8CE3B905A9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424" y="4894130"/>
                <a:ext cx="3263144" cy="14566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48102AF-15DD-A96B-AB59-209D58ED4411}"/>
                  </a:ext>
                </a:extLst>
              </p:cNvPr>
              <p:cNvSpPr/>
              <p:nvPr/>
            </p:nvSpPr>
            <p:spPr>
              <a:xfrm>
                <a:off x="231424" y="2731071"/>
                <a:ext cx="3263144" cy="145666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Discrepancy Parameterization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48102AF-15DD-A96B-AB59-209D58ED44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424" y="2731071"/>
                <a:ext cx="3263144" cy="14566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1C66D90-B334-22F0-98D3-83B8304E36B2}"/>
                  </a:ext>
                </a:extLst>
              </p:cNvPr>
              <p:cNvSpPr/>
              <p:nvPr/>
            </p:nvSpPr>
            <p:spPr>
              <a:xfrm>
                <a:off x="8697432" y="2731071"/>
                <a:ext cx="3263144" cy="145666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Optimization Solution Posterior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𝑝𝑜𝑠𝑡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𝑝𝑜𝑠𝑡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1C66D90-B334-22F0-98D3-83B8304E36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7432" y="2731071"/>
                <a:ext cx="3263144" cy="1456660"/>
              </a:xfrm>
              <a:prstGeom prst="rect">
                <a:avLst/>
              </a:prstGeom>
              <a:blipFill>
                <a:blip r:embed="rId6"/>
                <a:stretch>
                  <a:fillRect l="-1158" r="-1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2FDF8C7-3985-1A6B-67EF-CD009F3C4C29}"/>
              </a:ext>
            </a:extLst>
          </p:cNvPr>
          <p:cNvCxnSpPr>
            <a:cxnSpLocks/>
          </p:cNvCxnSpPr>
          <p:nvPr/>
        </p:nvCxnSpPr>
        <p:spPr>
          <a:xfrm>
            <a:off x="7727572" y="3447044"/>
            <a:ext cx="969860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9363CBE-7D46-3AE7-961C-AB6C7A07433E}"/>
              </a:ext>
            </a:extLst>
          </p:cNvPr>
          <p:cNvCxnSpPr>
            <a:cxnSpLocks/>
          </p:cNvCxnSpPr>
          <p:nvPr/>
        </p:nvCxnSpPr>
        <p:spPr>
          <a:xfrm>
            <a:off x="3494568" y="3450745"/>
            <a:ext cx="969860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D8C9EC7-5B82-CFD7-7DF3-16FD29FCF72B}"/>
                  </a:ext>
                </a:extLst>
              </p:cNvPr>
              <p:cNvSpPr/>
              <p:nvPr/>
            </p:nvSpPr>
            <p:spPr>
              <a:xfrm>
                <a:off x="8697432" y="307182"/>
                <a:ext cx="3263144" cy="145666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Low-Fidelity Optimization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acc>
                              <m:r>
                                <a:rPr lang="en-US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arg</m:t>
                              </m:r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̃"/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D8C9EC7-5B82-CFD7-7DF3-16FD29FCF7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7432" y="307182"/>
                <a:ext cx="3263144" cy="145666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1B496FF6-0D4D-2226-9417-277102B904E9}"/>
                  </a:ext>
                </a:extLst>
              </p:cNvPr>
              <p:cNvSpPr/>
              <p:nvPr/>
            </p:nvSpPr>
            <p:spPr>
              <a:xfrm>
                <a:off x="4464428" y="310896"/>
                <a:ext cx="3263144" cy="145666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High-Fidelity Data</a:t>
                </a:r>
              </a:p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bSup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1B496FF6-0D4D-2226-9417-277102B904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428" y="310896"/>
                <a:ext cx="3263144" cy="145666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B036B66-CAF2-CD85-0116-9CABB81FFA9F}"/>
              </a:ext>
            </a:extLst>
          </p:cNvPr>
          <p:cNvCxnSpPr>
            <a:cxnSpLocks/>
          </p:cNvCxnSpPr>
          <p:nvPr/>
        </p:nvCxnSpPr>
        <p:spPr>
          <a:xfrm>
            <a:off x="10415016" y="1776198"/>
            <a:ext cx="0" cy="98586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9E46B71-DE7E-E3BF-26FC-74309364308F}"/>
              </a:ext>
            </a:extLst>
          </p:cNvPr>
          <p:cNvCxnSpPr>
            <a:cxnSpLocks/>
          </p:cNvCxnSpPr>
          <p:nvPr/>
        </p:nvCxnSpPr>
        <p:spPr>
          <a:xfrm>
            <a:off x="6093105" y="1771853"/>
            <a:ext cx="0" cy="98586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9337E3E-AA40-C6F9-C5FF-CE6DE7E0FAC7}"/>
              </a:ext>
            </a:extLst>
          </p:cNvPr>
          <p:cNvCxnSpPr>
            <a:cxnSpLocks/>
          </p:cNvCxnSpPr>
          <p:nvPr/>
        </p:nvCxnSpPr>
        <p:spPr>
          <a:xfrm>
            <a:off x="3494568" y="2029989"/>
            <a:ext cx="969860" cy="701082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0E3486E-B97D-74BB-82D1-C473A08F1760}"/>
              </a:ext>
            </a:extLst>
          </p:cNvPr>
          <p:cNvCxnSpPr>
            <a:cxnSpLocks/>
          </p:cNvCxnSpPr>
          <p:nvPr/>
        </p:nvCxnSpPr>
        <p:spPr>
          <a:xfrm flipV="1">
            <a:off x="3494568" y="4205682"/>
            <a:ext cx="969860" cy="701723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77FCAF6-2DD2-E47D-80BB-DAD72B259D3F}"/>
              </a:ext>
            </a:extLst>
          </p:cNvPr>
          <p:cNvSpPr txBox="1"/>
          <p:nvPr/>
        </p:nvSpPr>
        <p:spPr>
          <a:xfrm>
            <a:off x="5302578" y="5438614"/>
            <a:ext cx="1581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Discrepancy</a:t>
            </a:r>
          </a:p>
          <a:p>
            <a:pPr algn="ctr"/>
            <a:r>
              <a:rPr lang="en-US" dirty="0"/>
              <a:t>Calibration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BCAA36-CFD1-1162-4BB8-43E853A64639}"/>
              </a:ext>
            </a:extLst>
          </p:cNvPr>
          <p:cNvSpPr txBox="1"/>
          <p:nvPr/>
        </p:nvSpPr>
        <p:spPr>
          <a:xfrm>
            <a:off x="9454837" y="5438615"/>
            <a:ext cx="1892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Optimal Solution Updating</a:t>
            </a:r>
          </a:p>
        </p:txBody>
      </p:sp>
    </p:spTree>
    <p:extLst>
      <p:ext uri="{BB962C8B-B14F-4D97-AF65-F5344CB8AC3E}">
        <p14:creationId xmlns:p14="http://schemas.microsoft.com/office/powerpoint/2010/main" val="1631231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47">
            <a:extLst>
              <a:ext uri="{FF2B5EF4-FFF2-40B4-BE49-F238E27FC236}">
                <a16:creationId xmlns:a16="http://schemas.microsoft.com/office/drawing/2014/main" id="{EF978D2A-1381-D7B5-E989-2BFC226306FC}"/>
              </a:ext>
            </a:extLst>
          </p:cNvPr>
          <p:cNvSpPr/>
          <p:nvPr/>
        </p:nvSpPr>
        <p:spPr>
          <a:xfrm>
            <a:off x="3699641" y="4096297"/>
            <a:ext cx="6643239" cy="1174205"/>
          </a:xfrm>
          <a:prstGeom prst="rect">
            <a:avLst/>
          </a:prstGeom>
          <a:solidFill>
            <a:schemeClr val="accent5">
              <a:alpha val="10196"/>
            </a:schemeClr>
          </a:solidFill>
          <a:ln w="12700">
            <a:noFill/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B5EECA66-4447-1A38-02CF-5DC22A2CB3E8}"/>
              </a:ext>
            </a:extLst>
          </p:cNvPr>
          <p:cNvSpPr/>
          <p:nvPr/>
        </p:nvSpPr>
        <p:spPr>
          <a:xfrm>
            <a:off x="3699641" y="1497944"/>
            <a:ext cx="6643239" cy="2527518"/>
          </a:xfrm>
          <a:prstGeom prst="rect">
            <a:avLst/>
          </a:prstGeom>
          <a:solidFill>
            <a:srgbClr val="0F9ED5">
              <a:alpha val="10196"/>
            </a:srgbClr>
          </a:solidFill>
          <a:ln w="12700">
            <a:noFill/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96B7B58-4435-B93F-BC11-6549FDF5AD7D}"/>
              </a:ext>
            </a:extLst>
          </p:cNvPr>
          <p:cNvSpPr/>
          <p:nvPr/>
        </p:nvSpPr>
        <p:spPr>
          <a:xfrm>
            <a:off x="391069" y="1497944"/>
            <a:ext cx="3208938" cy="377255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endParaRPr lang="en-US" sz="14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85FCC344-BF82-CBDB-B39D-C0621C5868F4}"/>
              </a:ext>
            </a:extLst>
          </p:cNvPr>
          <p:cNvCxnSpPr>
            <a:cxnSpLocks/>
            <a:stCxn id="2" idx="0"/>
            <a:endCxn id="18" idx="2"/>
          </p:cNvCxnSpPr>
          <p:nvPr/>
        </p:nvCxnSpPr>
        <p:spPr>
          <a:xfrm>
            <a:off x="1995538" y="1667420"/>
            <a:ext cx="0" cy="343587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4A96C724-D07B-BE85-CB61-ED8E55AD3FF0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8684282" y="2530658"/>
            <a:ext cx="0" cy="170509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A7D7B1B-5B33-818F-7285-07BF6F42D806}"/>
              </a:ext>
            </a:extLst>
          </p:cNvPr>
          <p:cNvGrpSpPr/>
          <p:nvPr/>
        </p:nvGrpSpPr>
        <p:grpSpPr>
          <a:xfrm>
            <a:off x="545110" y="2940399"/>
            <a:ext cx="2900856" cy="867542"/>
            <a:chOff x="777764" y="2661745"/>
            <a:chExt cx="2900856" cy="86754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E7833A82-14D0-CD66-41F6-CAC3F128323E}"/>
                </a:ext>
              </a:extLst>
            </p:cNvPr>
            <p:cNvSpPr/>
            <p:nvPr/>
          </p:nvSpPr>
          <p:spPr>
            <a:xfrm>
              <a:off x="777764" y="2661745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parameterization</a:t>
              </a:r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58E635B-6F41-3BB8-59B2-1CB5C206A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32792" y="3068271"/>
              <a:ext cx="2590800" cy="330200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363E96A-C2F5-4B48-E0D6-11B0A0E81316}"/>
              </a:ext>
            </a:extLst>
          </p:cNvPr>
          <p:cNvGrpSpPr/>
          <p:nvPr/>
        </p:nvGrpSpPr>
        <p:grpSpPr>
          <a:xfrm>
            <a:off x="545110" y="4235751"/>
            <a:ext cx="2900856" cy="867542"/>
            <a:chOff x="777764" y="3656070"/>
            <a:chExt cx="2900856" cy="867542"/>
          </a:xfrm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505194FA-4258-697F-8747-AC4B67FB55A9}"/>
                </a:ext>
              </a:extLst>
            </p:cNvPr>
            <p:cNvSpPr/>
            <p:nvPr/>
          </p:nvSpPr>
          <p:spPr>
            <a:xfrm>
              <a:off x="777764" y="3656070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noise model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F277ACF9-1A17-2A2D-E3D5-9E37732A8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5842" y="4115241"/>
              <a:ext cx="2044700" cy="215900"/>
            </a:xfrm>
            <a:prstGeom prst="rect">
              <a:avLst/>
            </a:prstGeom>
          </p:spPr>
        </p:pic>
      </p:grp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B3CA3DE-3D45-541D-D733-D54307CF52D7}"/>
              </a:ext>
            </a:extLst>
          </p:cNvPr>
          <p:cNvSpPr/>
          <p:nvPr/>
        </p:nvSpPr>
        <p:spPr>
          <a:xfrm>
            <a:off x="545110" y="1667420"/>
            <a:ext cx="2900856" cy="86754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ts val="600"/>
              </a:lnSpc>
            </a:pPr>
            <a:endPara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ts val="600"/>
              </a:lnSpc>
            </a:pPr>
            <a:endPara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ts val="600"/>
              </a:lnSpc>
            </a:pP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Prior parameter distribution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30EA1E1-ECA8-DD20-8982-AAF5EE763543}"/>
              </a:ext>
            </a:extLst>
          </p:cNvPr>
          <p:cNvGrpSpPr/>
          <p:nvPr/>
        </p:nvGrpSpPr>
        <p:grpSpPr>
          <a:xfrm>
            <a:off x="3889482" y="4235751"/>
            <a:ext cx="2900856" cy="867542"/>
            <a:chOff x="4307270" y="2661745"/>
            <a:chExt cx="2900856" cy="867542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C06DBA51-A08C-CF7B-A034-BB0E969C8B60}"/>
                </a:ext>
              </a:extLst>
            </p:cNvPr>
            <p:cNvSpPr/>
            <p:nvPr/>
          </p:nvSpPr>
          <p:spPr>
            <a:xfrm>
              <a:off x="4307270" y="2661745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calibration</a:t>
              </a:r>
            </a:p>
            <a:p>
              <a:pPr algn="ctr"/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(Bayesian linear regression)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E3EA66CA-5BFB-DE32-D264-384C405B692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1248" y="3231056"/>
              <a:ext cx="1612900" cy="203200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2794B4A-3B6A-2EEF-D583-E8C6C182A6CC}"/>
              </a:ext>
            </a:extLst>
          </p:cNvPr>
          <p:cNvGrpSpPr/>
          <p:nvPr/>
        </p:nvGrpSpPr>
        <p:grpSpPr>
          <a:xfrm>
            <a:off x="7233854" y="4235751"/>
            <a:ext cx="2900856" cy="867542"/>
            <a:chOff x="8479791" y="3656070"/>
            <a:chExt cx="2900856" cy="867542"/>
          </a:xfrm>
          <a:solidFill>
            <a:schemeClr val="bg1"/>
          </a:solidFill>
        </p:grpSpPr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BAE5C3F9-DE44-9C29-14A0-EF6A2B0EB97E}"/>
                </a:ext>
              </a:extLst>
            </p:cNvPr>
            <p:cNvSpPr/>
            <p:nvPr/>
          </p:nvSpPr>
          <p:spPr>
            <a:xfrm>
              <a:off x="8479791" y="3656070"/>
              <a:ext cx="2900856" cy="867542"/>
            </a:xfrm>
            <a:prstGeom prst="roundRect">
              <a:avLst>
                <a:gd name="adj" fmla="val 0"/>
              </a:avLst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Post-optimality sensitivity update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A9FD8C1C-024D-405E-D0AE-2B2F6848710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97058" y="4115241"/>
              <a:ext cx="1333500" cy="165100"/>
            </a:xfrm>
            <a:prstGeom prst="rect">
              <a:avLst/>
            </a:prstGeom>
            <a:grpFill/>
          </p:spPr>
        </p:pic>
      </p:grp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EED4753-6CCF-385E-E3B9-09F0A246B9EE}"/>
              </a:ext>
            </a:extLst>
          </p:cNvPr>
          <p:cNvCxnSpPr>
            <a:cxnSpLocks/>
            <a:stCxn id="20" idx="3"/>
            <a:endCxn id="25" idx="1"/>
          </p:cNvCxnSpPr>
          <p:nvPr/>
        </p:nvCxnSpPr>
        <p:spPr>
          <a:xfrm>
            <a:off x="6790338" y="4669522"/>
            <a:ext cx="44351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0A74146-1B8E-9173-8386-0F1D3FE77AAA}"/>
              </a:ext>
            </a:extLst>
          </p:cNvPr>
          <p:cNvCxnSpPr>
            <a:cxnSpLocks/>
            <a:stCxn id="22" idx="2"/>
            <a:endCxn id="20" idx="0"/>
          </p:cNvCxnSpPr>
          <p:nvPr/>
        </p:nvCxnSpPr>
        <p:spPr>
          <a:xfrm>
            <a:off x="5339910" y="2530658"/>
            <a:ext cx="0" cy="170509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CD0D19A2-B0F3-D181-5AA6-408678A394C3}"/>
              </a:ext>
            </a:extLst>
          </p:cNvPr>
          <p:cNvSpPr txBox="1"/>
          <p:nvPr/>
        </p:nvSpPr>
        <p:spPr>
          <a:xfrm>
            <a:off x="700138" y="1203306"/>
            <a:ext cx="25968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Model discrepancy formulation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541AB3F-6E08-166D-D28D-9E8AAC5C6E14}"/>
              </a:ext>
            </a:extLst>
          </p:cNvPr>
          <p:cNvSpPr txBox="1"/>
          <p:nvPr/>
        </p:nvSpPr>
        <p:spPr>
          <a:xfrm>
            <a:off x="5400994" y="1203306"/>
            <a:ext cx="3376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and surrogate problem information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D1D31EC7-96B1-315B-4E65-11814D004D8F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3445966" y="4669522"/>
            <a:ext cx="44351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C00E477B-4CCC-ED24-B39A-22327BF745BA}"/>
              </a:ext>
            </a:extLst>
          </p:cNvPr>
          <p:cNvSpPr txBox="1"/>
          <p:nvPr/>
        </p:nvSpPr>
        <p:spPr>
          <a:xfrm>
            <a:off x="6021365" y="5269796"/>
            <a:ext cx="21355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Sensitivity-based update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0BCDE1-EAB5-E23F-69D1-A906BDFEAD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7188" y="2124481"/>
            <a:ext cx="1536700" cy="2159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1ED93D4A-B5D2-A427-14BE-F6CF8CDE220D}"/>
              </a:ext>
            </a:extLst>
          </p:cNvPr>
          <p:cNvGrpSpPr/>
          <p:nvPr/>
        </p:nvGrpSpPr>
        <p:grpSpPr>
          <a:xfrm>
            <a:off x="3889482" y="1663116"/>
            <a:ext cx="2900856" cy="867542"/>
            <a:chOff x="3889482" y="1663116"/>
            <a:chExt cx="2900856" cy="867542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A0D89A2B-DA86-1610-AAF8-514CF33BD3D9}"/>
                </a:ext>
              </a:extLst>
            </p:cNvPr>
            <p:cNvSpPr/>
            <p:nvPr/>
          </p:nvSpPr>
          <p:spPr>
            <a:xfrm>
              <a:off x="3889482" y="1663116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Large-scale / surrogate data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FF794BE-49AD-FA7B-6FE0-731BFA935E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336610" y="2131849"/>
              <a:ext cx="2006600" cy="1905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6A0FBC6-A435-9305-66BD-B7A11116284B}"/>
              </a:ext>
            </a:extLst>
          </p:cNvPr>
          <p:cNvGrpSpPr/>
          <p:nvPr/>
        </p:nvGrpSpPr>
        <p:grpSpPr>
          <a:xfrm>
            <a:off x="7233854" y="1663116"/>
            <a:ext cx="2900856" cy="867542"/>
            <a:chOff x="8513380" y="4248531"/>
            <a:chExt cx="2900856" cy="867542"/>
          </a:xfrm>
        </p:grpSpPr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5BAA6298-6068-C52A-98FF-73A37A1E0551}"/>
                </a:ext>
              </a:extLst>
            </p:cNvPr>
            <p:cNvSpPr/>
            <p:nvPr/>
          </p:nvSpPr>
          <p:spPr>
            <a:xfrm>
              <a:off x="8513380" y="4248531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Surrogate problem derivatives</a:t>
              </a: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E8114ED-7B8E-5F9C-5E71-50C3673D9DF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681108" y="4686466"/>
              <a:ext cx="2565400" cy="215900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B56C27C-31ED-FCE8-37C1-9294CC70CA84}"/>
              </a:ext>
            </a:extLst>
          </p:cNvPr>
          <p:cNvGrpSpPr/>
          <p:nvPr/>
        </p:nvGrpSpPr>
        <p:grpSpPr>
          <a:xfrm>
            <a:off x="7233854" y="2940399"/>
            <a:ext cx="2900856" cy="867542"/>
            <a:chOff x="7233854" y="2940399"/>
            <a:chExt cx="2900856" cy="867542"/>
          </a:xfrm>
        </p:grpSpPr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F6101FED-1F07-977A-C671-E93348DFCAA7}"/>
                </a:ext>
              </a:extLst>
            </p:cNvPr>
            <p:cNvSpPr/>
            <p:nvPr/>
          </p:nvSpPr>
          <p:spPr>
            <a:xfrm>
              <a:off x="7233854" y="2940399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Solution to surrogate-constrained optimization problem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1E531D5D-B1E3-9F35-E916-761F7952D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839732" y="3527455"/>
              <a:ext cx="1689100" cy="1905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001115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B69076B-B4F9-0FCA-093C-64003F0BE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47">
            <a:extLst>
              <a:ext uri="{FF2B5EF4-FFF2-40B4-BE49-F238E27FC236}">
                <a16:creationId xmlns:a16="http://schemas.microsoft.com/office/drawing/2014/main" id="{50127C5D-927F-8BFC-12F1-C16E1ED22772}"/>
              </a:ext>
            </a:extLst>
          </p:cNvPr>
          <p:cNvSpPr/>
          <p:nvPr/>
        </p:nvSpPr>
        <p:spPr>
          <a:xfrm>
            <a:off x="3699641" y="4096297"/>
            <a:ext cx="6643239" cy="1174205"/>
          </a:xfrm>
          <a:prstGeom prst="rect">
            <a:avLst/>
          </a:prstGeom>
          <a:solidFill>
            <a:schemeClr val="accent5">
              <a:alpha val="10196"/>
            </a:schemeClr>
          </a:solidFill>
          <a:ln w="12700">
            <a:noFill/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7B6506C6-9944-CB2C-BD49-636505106304}"/>
              </a:ext>
            </a:extLst>
          </p:cNvPr>
          <p:cNvSpPr/>
          <p:nvPr/>
        </p:nvSpPr>
        <p:spPr>
          <a:xfrm>
            <a:off x="3699641" y="2742984"/>
            <a:ext cx="6643239" cy="1282477"/>
          </a:xfrm>
          <a:prstGeom prst="rect">
            <a:avLst/>
          </a:prstGeom>
          <a:solidFill>
            <a:srgbClr val="0F9ED5">
              <a:alpha val="10196"/>
            </a:srgbClr>
          </a:solidFill>
          <a:ln w="12700">
            <a:noFill/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71971A1-E001-502B-0CC7-2346A09D282B}"/>
              </a:ext>
            </a:extLst>
          </p:cNvPr>
          <p:cNvSpPr/>
          <p:nvPr/>
        </p:nvSpPr>
        <p:spPr>
          <a:xfrm>
            <a:off x="391069" y="2742984"/>
            <a:ext cx="3208938" cy="252751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endParaRPr lang="en-US" sz="14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DD587270-E39F-094A-200E-C153C3AC6B49}"/>
              </a:ext>
            </a:extLst>
          </p:cNvPr>
          <p:cNvCxnSpPr>
            <a:cxnSpLocks/>
            <a:stCxn id="17" idx="2"/>
            <a:endCxn id="25" idx="0"/>
          </p:cNvCxnSpPr>
          <p:nvPr/>
        </p:nvCxnSpPr>
        <p:spPr>
          <a:xfrm>
            <a:off x="8684282" y="3807941"/>
            <a:ext cx="0" cy="42781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4C55A592-9449-7380-B630-AF7FB42C8F13}"/>
              </a:ext>
            </a:extLst>
          </p:cNvPr>
          <p:cNvGrpSpPr/>
          <p:nvPr/>
        </p:nvGrpSpPr>
        <p:grpSpPr>
          <a:xfrm>
            <a:off x="545110" y="2934439"/>
            <a:ext cx="2900856" cy="867542"/>
            <a:chOff x="777764" y="2661745"/>
            <a:chExt cx="2900856" cy="86754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99DE0F33-EB75-38FF-433D-74F31C077A44}"/>
                </a:ext>
              </a:extLst>
            </p:cNvPr>
            <p:cNvSpPr/>
            <p:nvPr/>
          </p:nvSpPr>
          <p:spPr>
            <a:xfrm>
              <a:off x="777764" y="2661745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parameterization</a:t>
              </a:r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2A3FCE8B-A12A-C7AD-B494-10EDDF675D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32792" y="3068271"/>
              <a:ext cx="2590800" cy="330200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AB81CC6-9679-5364-D276-849FBC147D62}"/>
              </a:ext>
            </a:extLst>
          </p:cNvPr>
          <p:cNvGrpSpPr/>
          <p:nvPr/>
        </p:nvGrpSpPr>
        <p:grpSpPr>
          <a:xfrm>
            <a:off x="7233854" y="4235751"/>
            <a:ext cx="2900856" cy="867542"/>
            <a:chOff x="8479791" y="3656070"/>
            <a:chExt cx="2900856" cy="867542"/>
          </a:xfrm>
          <a:solidFill>
            <a:schemeClr val="bg1"/>
          </a:solidFill>
        </p:grpSpPr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264B3922-CC5F-1702-075B-71F742E5ACFE}"/>
                </a:ext>
              </a:extLst>
            </p:cNvPr>
            <p:cNvSpPr/>
            <p:nvPr/>
          </p:nvSpPr>
          <p:spPr>
            <a:xfrm>
              <a:off x="8479791" y="3656070"/>
              <a:ext cx="2900856" cy="867542"/>
            </a:xfrm>
            <a:prstGeom prst="roundRect">
              <a:avLst>
                <a:gd name="adj" fmla="val 0"/>
              </a:avLst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4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Post-optimality sensitivity update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F5AE298A-7C83-753A-8F8B-3633267333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297058" y="4115241"/>
              <a:ext cx="1333500" cy="165100"/>
            </a:xfrm>
            <a:prstGeom prst="rect">
              <a:avLst/>
            </a:prstGeom>
            <a:grpFill/>
          </p:spPr>
        </p:pic>
      </p:grp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6905389C-EF75-4A70-6BCF-5CABBDF38038}"/>
              </a:ext>
            </a:extLst>
          </p:cNvPr>
          <p:cNvCxnSpPr>
            <a:cxnSpLocks/>
            <a:stCxn id="20" idx="3"/>
            <a:endCxn id="25" idx="1"/>
          </p:cNvCxnSpPr>
          <p:nvPr/>
        </p:nvCxnSpPr>
        <p:spPr>
          <a:xfrm>
            <a:off x="6790338" y="4669522"/>
            <a:ext cx="44351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30ED7BE4-B35F-AC66-E6F8-1223199669B0}"/>
              </a:ext>
            </a:extLst>
          </p:cNvPr>
          <p:cNvCxnSpPr>
            <a:cxnSpLocks/>
            <a:stCxn id="22" idx="2"/>
            <a:endCxn id="20" idx="0"/>
          </p:cNvCxnSpPr>
          <p:nvPr/>
        </p:nvCxnSpPr>
        <p:spPr>
          <a:xfrm>
            <a:off x="5339910" y="3801981"/>
            <a:ext cx="0" cy="4337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C93736E4-2A15-8194-B43E-E43A60C5964A}"/>
              </a:ext>
            </a:extLst>
          </p:cNvPr>
          <p:cNvSpPr txBox="1"/>
          <p:nvPr/>
        </p:nvSpPr>
        <p:spPr>
          <a:xfrm>
            <a:off x="700138" y="2421886"/>
            <a:ext cx="25968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Model discrepancy formulation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6BD513B-0188-83A4-0683-CF1FFDA6C697}"/>
              </a:ext>
            </a:extLst>
          </p:cNvPr>
          <p:cNvSpPr txBox="1"/>
          <p:nvPr/>
        </p:nvSpPr>
        <p:spPr>
          <a:xfrm>
            <a:off x="5400994" y="2421886"/>
            <a:ext cx="3376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and surrogate problem information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7878A44F-A3A1-12A0-04E1-685B808BB1CD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3445966" y="4669522"/>
            <a:ext cx="44351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770801E-18E3-AFAC-42EA-AD6C6C714F48}"/>
              </a:ext>
            </a:extLst>
          </p:cNvPr>
          <p:cNvSpPr txBox="1"/>
          <p:nvPr/>
        </p:nvSpPr>
        <p:spPr>
          <a:xfrm>
            <a:off x="6021365" y="5269796"/>
            <a:ext cx="21355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Sensitivity-based update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A5E3E25-8D57-7ABA-6A21-BDDC33D2D985}"/>
              </a:ext>
            </a:extLst>
          </p:cNvPr>
          <p:cNvGrpSpPr/>
          <p:nvPr/>
        </p:nvGrpSpPr>
        <p:grpSpPr>
          <a:xfrm>
            <a:off x="3889482" y="2934439"/>
            <a:ext cx="2900856" cy="867542"/>
            <a:chOff x="3889482" y="1663116"/>
            <a:chExt cx="2900856" cy="867542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FD51650F-F894-23B6-391D-F28B22F01131}"/>
                </a:ext>
              </a:extLst>
            </p:cNvPr>
            <p:cNvSpPr/>
            <p:nvPr/>
          </p:nvSpPr>
          <p:spPr>
            <a:xfrm>
              <a:off x="3889482" y="1663116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Large-scale / surrogate data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9E7C893-83A3-71DD-61F1-0956517B80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36610" y="2131849"/>
              <a:ext cx="2006600" cy="190500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D0027E4-6439-AA2A-82E9-B762B53EB605}"/>
              </a:ext>
            </a:extLst>
          </p:cNvPr>
          <p:cNvGrpSpPr/>
          <p:nvPr/>
        </p:nvGrpSpPr>
        <p:grpSpPr>
          <a:xfrm>
            <a:off x="7233854" y="2940399"/>
            <a:ext cx="2900856" cy="867542"/>
            <a:chOff x="7233854" y="2940399"/>
            <a:chExt cx="2900856" cy="867542"/>
          </a:xfrm>
        </p:grpSpPr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624C7208-8360-2CD8-880A-99C7F57AB916}"/>
                </a:ext>
              </a:extLst>
            </p:cNvPr>
            <p:cNvSpPr/>
            <p:nvPr/>
          </p:nvSpPr>
          <p:spPr>
            <a:xfrm>
              <a:off x="7233854" y="2940399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Solution to surrogate-constrained optimization problem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CF936A8-57F8-6460-43F9-9B51DD7335E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39732" y="3527455"/>
              <a:ext cx="1689100" cy="1905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EFC25A-35AC-E169-7D22-1AD16E3DFEFE}"/>
              </a:ext>
            </a:extLst>
          </p:cNvPr>
          <p:cNvGrpSpPr/>
          <p:nvPr/>
        </p:nvGrpSpPr>
        <p:grpSpPr>
          <a:xfrm>
            <a:off x="545110" y="4235751"/>
            <a:ext cx="2900856" cy="867542"/>
            <a:chOff x="545110" y="4235751"/>
            <a:chExt cx="2900856" cy="867542"/>
          </a:xfrm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DF39C4F9-9E6D-2A92-E61F-823A74A683A5}"/>
                </a:ext>
              </a:extLst>
            </p:cNvPr>
            <p:cNvSpPr/>
            <p:nvPr/>
          </p:nvSpPr>
          <p:spPr>
            <a:xfrm>
              <a:off x="545110" y="4235751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prior, noise model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9813F93-84D7-F186-9AB8-2D53F33D9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81227" y="4552754"/>
              <a:ext cx="1612900" cy="457200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BECBC64-CA44-4A69-624F-8D0101CCE50D}"/>
              </a:ext>
            </a:extLst>
          </p:cNvPr>
          <p:cNvGrpSpPr/>
          <p:nvPr/>
        </p:nvGrpSpPr>
        <p:grpSpPr>
          <a:xfrm>
            <a:off x="3889482" y="4235751"/>
            <a:ext cx="2900856" cy="867542"/>
            <a:chOff x="3889482" y="4235751"/>
            <a:chExt cx="2900856" cy="867542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F125A8B2-24EE-007C-D3CA-F8D874957E3C}"/>
                </a:ext>
              </a:extLst>
            </p:cNvPr>
            <p:cNvSpPr/>
            <p:nvPr/>
          </p:nvSpPr>
          <p:spPr>
            <a:xfrm>
              <a:off x="3889482" y="4235751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Bayesian discrepancy calibration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57C8936-64E7-A1C1-6DD8-2272ABEE0C5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266760" y="4701154"/>
              <a:ext cx="2146300" cy="203200"/>
            </a:xfrm>
            <a:prstGeom prst="rect">
              <a:avLst/>
            </a:prstGeom>
          </p:spPr>
        </p:pic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B33625B-AB8D-14B2-4B55-58865E0AFA28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3445966" y="3368210"/>
            <a:ext cx="535315" cy="86754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1916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0FA9D-D53D-8511-7550-92E59B1DF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47">
            <a:extLst>
              <a:ext uri="{FF2B5EF4-FFF2-40B4-BE49-F238E27FC236}">
                <a16:creationId xmlns:a16="http://schemas.microsoft.com/office/drawing/2014/main" id="{E1881D16-A85F-F9ED-5A30-5506084A571E}"/>
              </a:ext>
            </a:extLst>
          </p:cNvPr>
          <p:cNvSpPr/>
          <p:nvPr/>
        </p:nvSpPr>
        <p:spPr>
          <a:xfrm>
            <a:off x="356051" y="4096297"/>
            <a:ext cx="9986830" cy="1441812"/>
          </a:xfrm>
          <a:prstGeom prst="rect">
            <a:avLst/>
          </a:prstGeom>
          <a:solidFill>
            <a:schemeClr val="accent5">
              <a:alpha val="10196"/>
            </a:schemeClr>
          </a:solidFill>
          <a:ln w="12700">
            <a:noFill/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6F3AB9E8-6A71-530F-4687-501EBE57DB65}"/>
              </a:ext>
            </a:extLst>
          </p:cNvPr>
          <p:cNvSpPr/>
          <p:nvPr/>
        </p:nvSpPr>
        <p:spPr>
          <a:xfrm>
            <a:off x="356051" y="2498577"/>
            <a:ext cx="9986830" cy="1526885"/>
          </a:xfrm>
          <a:prstGeom prst="rect">
            <a:avLst/>
          </a:prstGeom>
          <a:solidFill>
            <a:srgbClr val="0F9ED5">
              <a:alpha val="10196"/>
            </a:srgbClr>
          </a:solidFill>
          <a:ln w="12700">
            <a:noFill/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757E4CA-6EDC-3F87-0C4C-82079782DA87}"/>
              </a:ext>
            </a:extLst>
          </p:cNvPr>
          <p:cNvGrpSpPr/>
          <p:nvPr/>
        </p:nvGrpSpPr>
        <p:grpSpPr>
          <a:xfrm>
            <a:off x="7233854" y="2933393"/>
            <a:ext cx="2900856" cy="867542"/>
            <a:chOff x="8479791" y="3656070"/>
            <a:chExt cx="2900856" cy="867542"/>
          </a:xfrm>
          <a:solidFill>
            <a:schemeClr val="bg1"/>
          </a:solidFill>
        </p:grpSpPr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820640E2-8EA2-267D-9F49-0C415614C034}"/>
                </a:ext>
              </a:extLst>
            </p:cNvPr>
            <p:cNvSpPr/>
            <p:nvPr/>
          </p:nvSpPr>
          <p:spPr>
            <a:xfrm>
              <a:off x="8479791" y="3656070"/>
              <a:ext cx="2900856" cy="867542"/>
            </a:xfrm>
            <a:prstGeom prst="roundRect">
              <a:avLst>
                <a:gd name="adj" fmla="val 0"/>
              </a:avLst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4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Post-optimality sensitivity update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0C2C5945-D6E5-B000-FB14-2DA7716F01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297058" y="4115241"/>
              <a:ext cx="1333500" cy="165100"/>
            </a:xfrm>
            <a:prstGeom prst="rect">
              <a:avLst/>
            </a:prstGeom>
            <a:grpFill/>
          </p:spPr>
        </p:pic>
      </p:grp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4431FCB6-C55A-2D86-3BD0-204ACE713A03}"/>
              </a:ext>
            </a:extLst>
          </p:cNvPr>
          <p:cNvCxnSpPr>
            <a:cxnSpLocks/>
            <a:stCxn id="22" idx="3"/>
            <a:endCxn id="20" idx="1"/>
          </p:cNvCxnSpPr>
          <p:nvPr/>
        </p:nvCxnSpPr>
        <p:spPr>
          <a:xfrm>
            <a:off x="3445966" y="4669522"/>
            <a:ext cx="44351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4F1DEEA1-EA3C-B3A8-2EC0-746F1B30970C}"/>
              </a:ext>
            </a:extLst>
          </p:cNvPr>
          <p:cNvSpPr txBox="1"/>
          <p:nvPr/>
        </p:nvSpPr>
        <p:spPr>
          <a:xfrm>
            <a:off x="462072" y="2554977"/>
            <a:ext cx="16898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0A84B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Sensitivity analysis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B62B1874-03A3-442A-0E73-DA965FF6BD81}"/>
              </a:ext>
            </a:extLst>
          </p:cNvPr>
          <p:cNvCxnSpPr>
            <a:cxnSpLocks/>
            <a:stCxn id="18" idx="3"/>
          </p:cNvCxnSpPr>
          <p:nvPr/>
        </p:nvCxnSpPr>
        <p:spPr>
          <a:xfrm flipH="1">
            <a:off x="6790338" y="4669522"/>
            <a:ext cx="3344372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C81010DD-8458-0529-A834-9756B52ED76C}"/>
              </a:ext>
            </a:extLst>
          </p:cNvPr>
          <p:cNvSpPr txBox="1"/>
          <p:nvPr/>
        </p:nvSpPr>
        <p:spPr>
          <a:xfrm>
            <a:off x="462072" y="5174128"/>
            <a:ext cx="17876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rgbClr val="86227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Bayesian calibration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39614D95-20D1-BC72-D244-6B0F17985783}"/>
              </a:ext>
            </a:extLst>
          </p:cNvPr>
          <p:cNvCxnSpPr>
            <a:cxnSpLocks/>
            <a:stCxn id="16" idx="3"/>
            <a:endCxn id="25" idx="1"/>
          </p:cNvCxnSpPr>
          <p:nvPr/>
        </p:nvCxnSpPr>
        <p:spPr>
          <a:xfrm flipV="1">
            <a:off x="6790338" y="3367164"/>
            <a:ext cx="443516" cy="104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A3C52E9-4E0B-DFCF-3CC0-828E89400B01}"/>
              </a:ext>
            </a:extLst>
          </p:cNvPr>
          <p:cNvSpPr/>
          <p:nvPr/>
        </p:nvSpPr>
        <p:spPr>
          <a:xfrm>
            <a:off x="545110" y="4235751"/>
            <a:ext cx="2900856" cy="867542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ts val="600"/>
              </a:lnSpc>
            </a:pPr>
            <a:endPara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ts val="600"/>
              </a:lnSpc>
            </a:pPr>
            <a:endPara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ts val="600"/>
              </a:lnSpc>
            </a:pP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True / approximate model data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E52ABCC-9D14-67DB-B82D-83796CA186BD}"/>
              </a:ext>
            </a:extLst>
          </p:cNvPr>
          <p:cNvCxnSpPr>
            <a:cxnSpLocks/>
            <a:stCxn id="17" idx="3"/>
            <a:endCxn id="16" idx="1"/>
          </p:cNvCxnSpPr>
          <p:nvPr/>
        </p:nvCxnSpPr>
        <p:spPr>
          <a:xfrm>
            <a:off x="3445966" y="3367164"/>
            <a:ext cx="443516" cy="104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0566089-C836-6044-69A4-6A70CD4D6D44}"/>
              </a:ext>
            </a:extLst>
          </p:cNvPr>
          <p:cNvCxnSpPr>
            <a:cxnSpLocks/>
            <a:stCxn id="20" idx="0"/>
            <a:endCxn id="16" idx="2"/>
          </p:cNvCxnSpPr>
          <p:nvPr/>
        </p:nvCxnSpPr>
        <p:spPr>
          <a:xfrm flipV="1">
            <a:off x="5339910" y="3801981"/>
            <a:ext cx="0" cy="4337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2155945-54E3-9D05-9974-EA3F5D664CFC}"/>
              </a:ext>
            </a:extLst>
          </p:cNvPr>
          <p:cNvGrpSpPr/>
          <p:nvPr/>
        </p:nvGrpSpPr>
        <p:grpSpPr>
          <a:xfrm>
            <a:off x="3889482" y="4235751"/>
            <a:ext cx="2900856" cy="867542"/>
            <a:chOff x="3889482" y="4235751"/>
            <a:chExt cx="2900856" cy="867542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4816579D-A9B7-24EB-3D79-953EBE870633}"/>
                </a:ext>
              </a:extLst>
            </p:cNvPr>
            <p:cNvSpPr/>
            <p:nvPr/>
          </p:nvSpPr>
          <p:spPr>
            <a:xfrm>
              <a:off x="3889482" y="4235751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Bayesian discrepancy calibration</a:t>
              </a:r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2DD0A152-2A02-1A6F-3560-50209034D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17560" y="4715758"/>
              <a:ext cx="2044700" cy="190500"/>
            </a:xfrm>
            <a:prstGeom prst="rect">
              <a:avLst/>
            </a:prstGeom>
          </p:spPr>
        </p:pic>
      </p:grpSp>
      <p:pic>
        <p:nvPicPr>
          <p:cNvPr id="50" name="Picture 49">
            <a:extLst>
              <a:ext uri="{FF2B5EF4-FFF2-40B4-BE49-F238E27FC236}">
                <a16:creationId xmlns:a16="http://schemas.microsoft.com/office/drawing/2014/main" id="{D1814286-3A50-8D47-89F6-0C791FA36D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087" y="4715758"/>
            <a:ext cx="2374900" cy="190500"/>
          </a:xfrm>
          <a:prstGeom prst="rect">
            <a:avLst/>
          </a:prstGeom>
        </p:spPr>
      </p:pic>
      <p:grpSp>
        <p:nvGrpSpPr>
          <p:cNvPr id="62" name="Group 61">
            <a:extLst>
              <a:ext uri="{FF2B5EF4-FFF2-40B4-BE49-F238E27FC236}">
                <a16:creationId xmlns:a16="http://schemas.microsoft.com/office/drawing/2014/main" id="{88799940-47E3-C472-28C0-2ED9A04700BE}"/>
              </a:ext>
            </a:extLst>
          </p:cNvPr>
          <p:cNvGrpSpPr/>
          <p:nvPr/>
        </p:nvGrpSpPr>
        <p:grpSpPr>
          <a:xfrm>
            <a:off x="3889482" y="2934439"/>
            <a:ext cx="2900856" cy="867542"/>
            <a:chOff x="3889482" y="2934439"/>
            <a:chExt cx="2900856" cy="86754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471237A-5666-C5BA-ECFC-5ADE22290607}"/>
                </a:ext>
              </a:extLst>
            </p:cNvPr>
            <p:cNvSpPr/>
            <p:nvPr/>
          </p:nvSpPr>
          <p:spPr>
            <a:xfrm>
              <a:off x="3889482" y="2934439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Post-optimality sensitivities</a:t>
              </a:r>
            </a:p>
          </p:txBody>
        </p:sp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18733C4D-B9F1-31FA-916E-61B05A8BB42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62060" y="3391878"/>
              <a:ext cx="1155700" cy="215900"/>
            </a:xfrm>
            <a:prstGeom prst="rect">
              <a:avLst/>
            </a:prstGeom>
          </p:spPr>
        </p:pic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8AE0531-3A63-3B93-5AA0-B5C43B894D35}"/>
              </a:ext>
            </a:extLst>
          </p:cNvPr>
          <p:cNvGrpSpPr/>
          <p:nvPr/>
        </p:nvGrpSpPr>
        <p:grpSpPr>
          <a:xfrm>
            <a:off x="545110" y="2933393"/>
            <a:ext cx="2900856" cy="867542"/>
            <a:chOff x="545110" y="2933393"/>
            <a:chExt cx="2900856" cy="867542"/>
          </a:xfrm>
        </p:grpSpPr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996D6C08-DD62-5253-3737-6920E28C4383}"/>
                </a:ext>
              </a:extLst>
            </p:cNvPr>
            <p:cNvSpPr/>
            <p:nvPr/>
          </p:nvSpPr>
          <p:spPr>
            <a:xfrm>
              <a:off x="545110" y="2933393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Approximate optimization</a:t>
              </a:r>
            </a:p>
          </p:txBody>
        </p:sp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D5E4159D-50B3-F730-A3B8-C3BCF95E9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30302" y="3291273"/>
              <a:ext cx="2540000" cy="457200"/>
            </a:xfrm>
            <a:prstGeom prst="rect">
              <a:avLst/>
            </a:prstGeom>
          </p:spPr>
        </p:pic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E46FC42-287F-4305-CC5E-96767FFB9EE1}"/>
              </a:ext>
            </a:extLst>
          </p:cNvPr>
          <p:cNvGrpSpPr/>
          <p:nvPr/>
        </p:nvGrpSpPr>
        <p:grpSpPr>
          <a:xfrm>
            <a:off x="7233854" y="4235751"/>
            <a:ext cx="2900856" cy="867542"/>
            <a:chOff x="7233854" y="4235751"/>
            <a:chExt cx="2900856" cy="867542"/>
          </a:xfrm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33175857-17CD-3A49-801F-8E1C23FB94B3}"/>
                </a:ext>
              </a:extLst>
            </p:cNvPr>
            <p:cNvSpPr/>
            <p:nvPr/>
          </p:nvSpPr>
          <p:spPr>
            <a:xfrm>
              <a:off x="7233854" y="4235751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Prior and hyperparameters</a:t>
              </a:r>
            </a:p>
          </p:txBody>
        </p: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989A23CB-CC1F-4BE0-F6DB-5F55D7441F8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680982" y="4682145"/>
              <a:ext cx="2006600" cy="215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031507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0A534B-EEB4-13F6-B255-D5000D404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47">
            <a:extLst>
              <a:ext uri="{FF2B5EF4-FFF2-40B4-BE49-F238E27FC236}">
                <a16:creationId xmlns:a16="http://schemas.microsoft.com/office/drawing/2014/main" id="{F906E1AB-0E8E-ACB4-310E-94D71F5AD099}"/>
              </a:ext>
            </a:extLst>
          </p:cNvPr>
          <p:cNvSpPr/>
          <p:nvPr/>
        </p:nvSpPr>
        <p:spPr>
          <a:xfrm>
            <a:off x="3699641" y="4096297"/>
            <a:ext cx="6643239" cy="1174205"/>
          </a:xfrm>
          <a:prstGeom prst="rect">
            <a:avLst/>
          </a:prstGeom>
          <a:solidFill>
            <a:schemeClr val="accent5">
              <a:alpha val="10196"/>
            </a:schemeClr>
          </a:solidFill>
          <a:ln w="12700">
            <a:noFill/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DF0B468-9606-2297-5379-7AAD5A68B282}"/>
              </a:ext>
            </a:extLst>
          </p:cNvPr>
          <p:cNvSpPr/>
          <p:nvPr/>
        </p:nvSpPr>
        <p:spPr>
          <a:xfrm>
            <a:off x="3699641" y="1497944"/>
            <a:ext cx="6643239" cy="2527518"/>
          </a:xfrm>
          <a:prstGeom prst="rect">
            <a:avLst/>
          </a:prstGeom>
          <a:solidFill>
            <a:srgbClr val="0F9ED5">
              <a:alpha val="10196"/>
            </a:srgbClr>
          </a:solidFill>
          <a:ln w="12700">
            <a:noFill/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B949787-CD45-C308-9A1E-59789648A7E1}"/>
              </a:ext>
            </a:extLst>
          </p:cNvPr>
          <p:cNvSpPr/>
          <p:nvPr/>
        </p:nvSpPr>
        <p:spPr>
          <a:xfrm>
            <a:off x="391069" y="1497944"/>
            <a:ext cx="3208938" cy="377255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endParaRPr lang="en-US" sz="14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138134EB-B020-D251-39F7-90F7D1B35CF5}"/>
              </a:ext>
            </a:extLst>
          </p:cNvPr>
          <p:cNvCxnSpPr>
            <a:cxnSpLocks/>
            <a:stCxn id="2" idx="0"/>
            <a:endCxn id="18" idx="2"/>
          </p:cNvCxnSpPr>
          <p:nvPr/>
        </p:nvCxnSpPr>
        <p:spPr>
          <a:xfrm>
            <a:off x="1995538" y="1667420"/>
            <a:ext cx="0" cy="343587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FF04DF65-DD77-1823-3BF8-2B7613560E5F}"/>
              </a:ext>
            </a:extLst>
          </p:cNvPr>
          <p:cNvCxnSpPr>
            <a:cxnSpLocks/>
            <a:stCxn id="23" idx="2"/>
            <a:endCxn id="25" idx="0"/>
          </p:cNvCxnSpPr>
          <p:nvPr/>
        </p:nvCxnSpPr>
        <p:spPr>
          <a:xfrm>
            <a:off x="8684282" y="2530658"/>
            <a:ext cx="0" cy="170509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BADF578-7882-1F46-F116-4405EFF17DBE}"/>
              </a:ext>
            </a:extLst>
          </p:cNvPr>
          <p:cNvGrpSpPr/>
          <p:nvPr/>
        </p:nvGrpSpPr>
        <p:grpSpPr>
          <a:xfrm>
            <a:off x="545110" y="2943116"/>
            <a:ext cx="2900856" cy="867542"/>
            <a:chOff x="777764" y="2661745"/>
            <a:chExt cx="2900856" cy="86754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400D2ED9-E931-A7C0-8C59-F74CD9E2B0CF}"/>
                </a:ext>
              </a:extLst>
            </p:cNvPr>
            <p:cNvSpPr/>
            <p:nvPr/>
          </p:nvSpPr>
          <p:spPr>
            <a:xfrm>
              <a:off x="777764" y="2661745"/>
              <a:ext cx="2900856" cy="867542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parameterization</a:t>
              </a:r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0BC34141-DAB0-9FE8-431A-25286310D3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32792" y="3068271"/>
              <a:ext cx="2590800" cy="330200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D453389-C456-B54A-F082-F56B6616A553}"/>
              </a:ext>
            </a:extLst>
          </p:cNvPr>
          <p:cNvGrpSpPr/>
          <p:nvPr/>
        </p:nvGrpSpPr>
        <p:grpSpPr>
          <a:xfrm>
            <a:off x="545110" y="4235751"/>
            <a:ext cx="2900856" cy="867542"/>
            <a:chOff x="777764" y="3656070"/>
            <a:chExt cx="2900856" cy="867542"/>
          </a:xfrm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80AF853C-247B-BFFB-329C-211958BC122B}"/>
                </a:ext>
              </a:extLst>
            </p:cNvPr>
            <p:cNvSpPr/>
            <p:nvPr/>
          </p:nvSpPr>
          <p:spPr>
            <a:xfrm>
              <a:off x="777764" y="3656070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noise model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F2416ECB-ECAD-AC6A-1FA6-76B95C9C9A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5842" y="4115241"/>
              <a:ext cx="2044700" cy="215900"/>
            </a:xfrm>
            <a:prstGeom prst="rect">
              <a:avLst/>
            </a:prstGeom>
          </p:spPr>
        </p:pic>
      </p:grp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C4FABC6-2DFC-8A9F-3936-DBCBAA15B58A}"/>
              </a:ext>
            </a:extLst>
          </p:cNvPr>
          <p:cNvSpPr/>
          <p:nvPr/>
        </p:nvSpPr>
        <p:spPr>
          <a:xfrm>
            <a:off x="545110" y="1667420"/>
            <a:ext cx="2900856" cy="867542"/>
          </a:xfrm>
          <a:prstGeom prst="roundRect">
            <a:avLst/>
          </a:prstGeom>
          <a:solidFill>
            <a:srgbClr val="6CFFE4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ts val="600"/>
              </a:lnSpc>
            </a:pPr>
            <a:endPara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ts val="600"/>
              </a:lnSpc>
            </a:pPr>
            <a:endPara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ts val="600"/>
              </a:lnSpc>
            </a:pP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Prior parameter distribution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139EF72-C653-96E9-BBDA-A2733AA5D894}"/>
              </a:ext>
            </a:extLst>
          </p:cNvPr>
          <p:cNvGrpSpPr/>
          <p:nvPr/>
        </p:nvGrpSpPr>
        <p:grpSpPr>
          <a:xfrm>
            <a:off x="3889482" y="4235751"/>
            <a:ext cx="2900856" cy="867542"/>
            <a:chOff x="4307270" y="2661745"/>
            <a:chExt cx="2900856" cy="867542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88185720-F720-3022-9C7E-4652ED3A8108}"/>
                </a:ext>
              </a:extLst>
            </p:cNvPr>
            <p:cNvSpPr/>
            <p:nvPr/>
          </p:nvSpPr>
          <p:spPr>
            <a:xfrm>
              <a:off x="4307270" y="2661745"/>
              <a:ext cx="2900856" cy="867542"/>
            </a:xfrm>
            <a:prstGeom prst="roundRect">
              <a:avLst/>
            </a:prstGeom>
            <a:solidFill>
              <a:srgbClr val="6CFFE4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Discrepancy calibration</a:t>
              </a:r>
            </a:p>
            <a:p>
              <a:pPr algn="ctr"/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(Bayesian linear regression)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F81002B0-EC80-3F49-E3D5-6B458F77A6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1248" y="3231056"/>
              <a:ext cx="1612900" cy="203200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8A6B4D8-6C2E-0CD4-6725-A9371967256B}"/>
              </a:ext>
            </a:extLst>
          </p:cNvPr>
          <p:cNvGrpSpPr/>
          <p:nvPr/>
        </p:nvGrpSpPr>
        <p:grpSpPr>
          <a:xfrm>
            <a:off x="7233854" y="1663116"/>
            <a:ext cx="2900856" cy="867542"/>
            <a:chOff x="8513380" y="890750"/>
            <a:chExt cx="2900856" cy="867542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8783946E-4D1F-3375-F99A-086CB7C89EAD}"/>
                </a:ext>
              </a:extLst>
            </p:cNvPr>
            <p:cNvSpPr/>
            <p:nvPr/>
          </p:nvSpPr>
          <p:spPr>
            <a:xfrm>
              <a:off x="8513380" y="890750"/>
              <a:ext cx="2900856" cy="867542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Solution to surrogate-constrained optimization problem</a:t>
              </a: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AFF7456F-24F1-B86E-8CB5-B126B2ED0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22508" y="1480199"/>
              <a:ext cx="482600" cy="190500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70BBDD5-747D-4F96-75D3-BCB2CB003B18}"/>
              </a:ext>
            </a:extLst>
          </p:cNvPr>
          <p:cNvGrpSpPr/>
          <p:nvPr/>
        </p:nvGrpSpPr>
        <p:grpSpPr>
          <a:xfrm>
            <a:off x="7233854" y="4235751"/>
            <a:ext cx="2900856" cy="867542"/>
            <a:chOff x="8479791" y="3656070"/>
            <a:chExt cx="2900856" cy="867542"/>
          </a:xfrm>
          <a:solidFill>
            <a:schemeClr val="bg1"/>
          </a:solidFill>
        </p:grpSpPr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ED7EE263-C79A-A267-C699-FB74FB47F8E3}"/>
                </a:ext>
              </a:extLst>
            </p:cNvPr>
            <p:cNvSpPr/>
            <p:nvPr/>
          </p:nvSpPr>
          <p:spPr>
            <a:xfrm>
              <a:off x="8479791" y="3656070"/>
              <a:ext cx="2900856" cy="867542"/>
            </a:xfrm>
            <a:prstGeom prst="roundRect">
              <a:avLst>
                <a:gd name="adj" fmla="val 0"/>
              </a:avLst>
            </a:prstGeom>
            <a:solidFill>
              <a:srgbClr val="FF9A77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Post-optimality sensitivity update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C544E5C9-B31A-5696-6383-EFB6DB64C81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297058" y="4115241"/>
              <a:ext cx="1333500" cy="165100"/>
            </a:xfrm>
            <a:prstGeom prst="rect">
              <a:avLst/>
            </a:prstGeom>
            <a:noFill/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FD74464-9EA9-2E40-A0D5-B9F74B5702BC}"/>
              </a:ext>
            </a:extLst>
          </p:cNvPr>
          <p:cNvGrpSpPr/>
          <p:nvPr/>
        </p:nvGrpSpPr>
        <p:grpSpPr>
          <a:xfrm>
            <a:off x="7233854" y="2943116"/>
            <a:ext cx="2900856" cy="867542"/>
            <a:chOff x="8513380" y="4248531"/>
            <a:chExt cx="2900856" cy="867542"/>
          </a:xfrm>
        </p:grpSpPr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9C8DFE6C-B61D-5DA7-9727-88A6E27E57FC}"/>
                </a:ext>
              </a:extLst>
            </p:cNvPr>
            <p:cNvSpPr/>
            <p:nvPr/>
          </p:nvSpPr>
          <p:spPr>
            <a:xfrm>
              <a:off x="8513380" y="4248531"/>
              <a:ext cx="2900856" cy="86754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Surrogate problem derivatives</a:t>
              </a:r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D93B5133-D559-3009-378E-50C72C3384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681108" y="4686466"/>
              <a:ext cx="2565400" cy="215900"/>
            </a:xfrm>
            <a:prstGeom prst="rect">
              <a:avLst/>
            </a:prstGeom>
          </p:spPr>
        </p:pic>
      </p:grp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9FC69269-1251-7B8E-957B-249A0D58D123}"/>
              </a:ext>
            </a:extLst>
          </p:cNvPr>
          <p:cNvCxnSpPr>
            <a:cxnSpLocks/>
            <a:stCxn id="20" idx="3"/>
            <a:endCxn id="25" idx="1"/>
          </p:cNvCxnSpPr>
          <p:nvPr/>
        </p:nvCxnSpPr>
        <p:spPr>
          <a:xfrm>
            <a:off x="6790338" y="4669522"/>
            <a:ext cx="44351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3CD1409-F4E6-6A1B-808B-84366072F8B4}"/>
              </a:ext>
            </a:extLst>
          </p:cNvPr>
          <p:cNvCxnSpPr>
            <a:cxnSpLocks/>
            <a:stCxn id="22" idx="2"/>
            <a:endCxn id="20" idx="0"/>
          </p:cNvCxnSpPr>
          <p:nvPr/>
        </p:nvCxnSpPr>
        <p:spPr>
          <a:xfrm>
            <a:off x="5339910" y="2530658"/>
            <a:ext cx="0" cy="170509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069FCD7-021D-38E8-0B48-ACB230AE1F93}"/>
              </a:ext>
            </a:extLst>
          </p:cNvPr>
          <p:cNvSpPr txBox="1"/>
          <p:nvPr/>
        </p:nvSpPr>
        <p:spPr>
          <a:xfrm>
            <a:off x="700138" y="1203306"/>
            <a:ext cx="25968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Model discrepancy formulation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F56BF0D-3878-C025-1AE1-50E5D6AE34F7}"/>
              </a:ext>
            </a:extLst>
          </p:cNvPr>
          <p:cNvSpPr txBox="1"/>
          <p:nvPr/>
        </p:nvSpPr>
        <p:spPr>
          <a:xfrm>
            <a:off x="5400994" y="1203306"/>
            <a:ext cx="3376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and surrogate problem information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842448A2-8F22-93A9-8FEA-DDF32011AE48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3445966" y="4669522"/>
            <a:ext cx="44351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5D13BBD2-102A-CD15-D54E-836BC9917C7E}"/>
              </a:ext>
            </a:extLst>
          </p:cNvPr>
          <p:cNvSpPr txBox="1"/>
          <p:nvPr/>
        </p:nvSpPr>
        <p:spPr>
          <a:xfrm>
            <a:off x="6021365" y="5269796"/>
            <a:ext cx="21355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accent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Sensitivity-based update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0F1D9-C70C-A223-8B62-7746A69240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7188" y="2124481"/>
            <a:ext cx="1536700" cy="2159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3DA406D4-404B-0A4D-7171-EEFEDAB50236}"/>
              </a:ext>
            </a:extLst>
          </p:cNvPr>
          <p:cNvGrpSpPr/>
          <p:nvPr/>
        </p:nvGrpSpPr>
        <p:grpSpPr>
          <a:xfrm>
            <a:off x="3889482" y="1663116"/>
            <a:ext cx="2900856" cy="867542"/>
            <a:chOff x="3889482" y="1663116"/>
            <a:chExt cx="2900856" cy="867542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2953A061-104D-0784-B9C8-CD40198AFE8C}"/>
                </a:ext>
              </a:extLst>
            </p:cNvPr>
            <p:cNvSpPr/>
            <p:nvPr/>
          </p:nvSpPr>
          <p:spPr>
            <a:xfrm>
              <a:off x="3889482" y="1663116"/>
              <a:ext cx="2900856" cy="867542"/>
            </a:xfrm>
            <a:prstGeom prst="roundRect">
              <a:avLst/>
            </a:prstGeom>
            <a:solidFill>
              <a:srgbClr val="6CFFE4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endPara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600"/>
                </a:lnSpc>
              </a:pP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Large-scale / surrogate data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61A411F-C594-15B0-DCE6-9716420B8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336610" y="2131849"/>
              <a:ext cx="2006600" cy="1905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0589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384</TotalTime>
  <Words>197</Words>
  <Application>Microsoft Macintosh PowerPoint</Application>
  <PresentationFormat>Widescreen</PresentationFormat>
  <Paragraphs>112</Paragraphs>
  <Slides>5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Hart, Joseph Lee</dc:creator>
  <cp:lastModifiedBy>McQuarrie, Shane Alexander</cp:lastModifiedBy>
  <cp:revision>15</cp:revision>
  <dcterms:created xsi:type="dcterms:W3CDTF">2025-03-12T21:19:29Z</dcterms:created>
  <dcterms:modified xsi:type="dcterms:W3CDTF">2025-06-24T22:24:44Z</dcterms:modified>
</cp:coreProperties>
</file>