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258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655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F9ED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531"/>
    <p:restoredTop sz="96327"/>
  </p:normalViewPr>
  <p:slideViewPr>
    <p:cSldViewPr snapToGrid="0">
      <p:cViewPr varScale="1">
        <p:scale>
          <a:sx n="103" d="100"/>
          <a:sy n="103" d="100"/>
        </p:scale>
        <p:origin x="176" y="720"/>
      </p:cViewPr>
      <p:guideLst>
        <p:guide orient="horz" pos="2160"/>
        <p:guide pos="655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AF917A-3D2A-580A-62A1-7348A38F47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85501C7-3176-18F8-E5AA-2E05B5F9ACA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D49018-422C-8700-C460-26C0027026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7A4ACA-080D-2846-BC7A-301AD37AA2EA}" type="datetimeFigureOut">
              <a:rPr lang="en-US" smtClean="0"/>
              <a:t>5/6/25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AD0F45-50E3-9BD9-9559-DE342E6B4D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F83A0F-8D81-3E78-ADD3-BA91266CCC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D8ADC5-77D2-384B-A75C-196E3C2AF9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12009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B9D5E9-DB6C-9E1D-AC71-B2F4BDB512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EF683D-0FAB-A296-BF30-821DDB3259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02C528-E8DC-A226-941D-3F7CC012E1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7A4ACA-080D-2846-BC7A-301AD37AA2EA}" type="datetimeFigureOut">
              <a:rPr lang="en-US" smtClean="0"/>
              <a:t>5/6/25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8A8C78-79AA-AD26-F988-7C16D2602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B1F3A0-C309-71EE-7792-77C9D475F4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D8ADC5-77D2-384B-A75C-196E3C2AF9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38662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558470-32B2-61E5-F67B-49ED76044D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676A82-F8B6-15E5-15BF-9DCFCAF192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5E308-EA25-F71E-E3A5-D80CBBFE36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7A4ACA-080D-2846-BC7A-301AD37AA2EA}" type="datetimeFigureOut">
              <a:rPr lang="en-US" smtClean="0"/>
              <a:t>5/6/25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6EF881-0C9B-31E4-35E8-19B1418DBB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297BE6-CE5F-FD2E-AD13-6839E88434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D8ADC5-77D2-384B-A75C-196E3C2AF9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79630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6E5C6B-9B7D-748B-4FC3-1E322E2C42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B572B8-F6BB-4BE1-AB5D-449927F6860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3AF3B40-77EA-9EA9-0C13-396E3C2F17F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4DED26-BD13-7953-51DF-7093AC9FBF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7A4ACA-080D-2846-BC7A-301AD37AA2EA}" type="datetimeFigureOut">
              <a:rPr lang="en-US" smtClean="0"/>
              <a:t>5/6/25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9361A9E-1D44-B4B7-C640-8304743389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F77902-CD2E-BFD0-0E1D-64B188E008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D8ADC5-77D2-384B-A75C-196E3C2AF9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84400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45977F-A6BF-2D25-5EEB-07C4D95B5D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3A61F3B-FE36-719A-8CCF-9CE22167A2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302CFED-65A7-9D5C-B6FE-24D7608C381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BD8C695-1D3E-0575-8E98-79167312529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5F15765-C4F4-BA6D-F3F2-2139F432AB3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7F2F768-821C-0CF2-86E1-8DB5947371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7A4ACA-080D-2846-BC7A-301AD37AA2EA}" type="datetimeFigureOut">
              <a:rPr lang="en-US" smtClean="0"/>
              <a:t>5/6/25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75E0A3-10A7-EC19-38DB-F0E7398FD9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70068D6-A902-79E1-E726-FA99AC5C9C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D8ADC5-77D2-384B-A75C-196E3C2AF9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42985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2ABF9A-08D0-B6FE-6E68-229707DB6F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A39B5AA-AADD-2F31-6613-2CBE46ACCF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7A4ACA-080D-2846-BC7A-301AD37AA2EA}" type="datetimeFigureOut">
              <a:rPr lang="en-US" smtClean="0"/>
              <a:t>5/6/25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5B2114B-8090-7777-8811-0BCCF42329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8D9948E-CE7F-07A1-BF9E-423053EE5C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D8ADC5-77D2-384B-A75C-196E3C2AF9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16376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96B65DF-A1A3-B2C6-EFC3-5DD627A5D2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7A4ACA-080D-2846-BC7A-301AD37AA2EA}" type="datetimeFigureOut">
              <a:rPr lang="en-US" smtClean="0"/>
              <a:t>5/6/25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671131D-DD1B-2B4D-BA01-76F3482045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987AEE-E57C-4246-7D7E-B3C46C80B1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D8ADC5-77D2-384B-A75C-196E3C2AF9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81233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E57E05-8CD8-6D44-E772-E9AAB052D0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13313A-06B1-A647-0538-394ED0FD48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9AB1627-2852-EF7E-AE5A-0A3B310B941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687D1C1-C9CF-65B3-D8EE-497233265F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7A4ACA-080D-2846-BC7A-301AD37AA2EA}" type="datetimeFigureOut">
              <a:rPr lang="en-US" smtClean="0"/>
              <a:t>5/6/25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D7324A4-0962-E11D-0293-A9DA217089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7BC174-6203-BF70-1F35-FFB2FB738B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D8ADC5-77D2-384B-A75C-196E3C2AF9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47900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EE6159-6490-B92C-F20D-B428BD3B39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53E966E-1B81-30C9-6A29-E0F353D1450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BC9A23-DF9D-27E2-717C-25639A2037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6AD325-2C74-6674-6B38-B913DA177D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7A4ACA-080D-2846-BC7A-301AD37AA2EA}" type="datetimeFigureOut">
              <a:rPr lang="en-US" smtClean="0"/>
              <a:t>5/6/25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649DD20-AA72-2258-26D9-E5C7491977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623DE79-E2C7-6A45-222E-6DCB38FB79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D8ADC5-77D2-384B-A75C-196E3C2AF9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64309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8DB8CE-922E-1EAE-2F45-855F9A0022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F221CD9-1607-EE2C-02A4-7BBCC58A963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07D366-91F4-EB0A-A691-FB74E10876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7A4ACA-080D-2846-BC7A-301AD37AA2EA}" type="datetimeFigureOut">
              <a:rPr lang="en-US" smtClean="0"/>
              <a:t>5/6/25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95AD8B-6BD4-229A-6889-73041600F7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DE4088-584C-6DB3-FD89-D9E59017BC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D8ADC5-77D2-384B-A75C-196E3C2AF9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119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2C250FB-2443-D0BE-8970-4CC9932F2AE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CA4AD7F-1F7A-06A9-4967-13D97D89E2B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2B37C9-578A-9C67-8147-AFD35A19B2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7A4ACA-080D-2846-BC7A-301AD37AA2EA}" type="datetimeFigureOut">
              <a:rPr lang="en-US" smtClean="0"/>
              <a:t>5/6/25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24613E-B888-38F9-B980-D76E5A02D1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55BF71-C5C9-D003-66AE-C8E8C1DAD1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D8ADC5-77D2-384B-A75C-196E3C2AF9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02896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291A78F-B9B4-E6F3-3C7B-AE59748BC7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7020FA1-9D8C-A6F9-E53C-28DB2D9DA2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63BE51-211B-F720-4345-D51F3736875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47A4ACA-080D-2846-BC7A-301AD37AA2EA}" type="datetimeFigureOut">
              <a:rPr lang="en-US" smtClean="0"/>
              <a:t>5/6/25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BCBE30-452D-07DB-2359-096AD6959BC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6ED0A1-AE11-D5FF-83D1-0AA43F75C12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8D8ADC5-77D2-384B-A75C-196E3C2AF9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36723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emf"/><Relationship Id="rId3" Type="http://schemas.openxmlformats.org/officeDocument/2006/relationships/image" Target="../media/image2.emf"/><Relationship Id="rId7" Type="http://schemas.openxmlformats.org/officeDocument/2006/relationships/image" Target="../media/image6.emf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emf"/><Relationship Id="rId5" Type="http://schemas.openxmlformats.org/officeDocument/2006/relationships/image" Target="../media/image4.emf"/><Relationship Id="rId4" Type="http://schemas.openxmlformats.org/officeDocument/2006/relationships/image" Target="../media/image3.emf"/><Relationship Id="rId9" Type="http://schemas.openxmlformats.org/officeDocument/2006/relationships/image" Target="../media/image8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7F5077D-AADB-A74F-4381-9E4A718604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225A1717-EF5E-4E81-3547-BFF19DAA9735}"/>
              </a:ext>
            </a:extLst>
          </p:cNvPr>
          <p:cNvSpPr/>
          <p:nvPr/>
        </p:nvSpPr>
        <p:spPr>
          <a:xfrm>
            <a:off x="8501448" y="148281"/>
            <a:ext cx="3599303" cy="6398823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D310A75-8F00-ECDE-87D5-0BF289DFFB3B}"/>
              </a:ext>
            </a:extLst>
          </p:cNvPr>
          <p:cNvSpPr/>
          <p:nvPr/>
        </p:nvSpPr>
        <p:spPr>
          <a:xfrm>
            <a:off x="135934" y="148281"/>
            <a:ext cx="7858882" cy="6398823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7342879C-E7BB-FDDB-25BF-A2B63BB81216}"/>
                  </a:ext>
                </a:extLst>
              </p:cNvPr>
              <p:cNvSpPr/>
              <p:nvPr/>
            </p:nvSpPr>
            <p:spPr>
              <a:xfrm>
                <a:off x="4464428" y="2731071"/>
                <a:ext cx="3263144" cy="1456660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Discrepancy Posterior</a:t>
                </a:r>
              </a:p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𝛿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𝑝𝑜𝑠𝑡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7342879C-E7BB-FDDB-25BF-A2B63BB8121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64428" y="2731071"/>
                <a:ext cx="3263144" cy="145666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FAF06798-4C7B-59F4-61B3-92A61FC76EEE}"/>
                  </a:ext>
                </a:extLst>
              </p:cNvPr>
              <p:cNvSpPr/>
              <p:nvPr/>
            </p:nvSpPr>
            <p:spPr>
              <a:xfrm>
                <a:off x="231424" y="573329"/>
                <a:ext cx="3263144" cy="1456660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Prior Distribution</a:t>
                </a:r>
              </a:p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𝑝𝑟𝑖𝑜𝑟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∼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(0,</m:t>
                      </m:r>
                      <m:sSubSup>
                        <m:sSubSupPr>
                          <m:ctrlP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sub>
                        <m:sup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sup>
                      </m:sSubSup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FAF06798-4C7B-59F4-61B3-92A61FC76EE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1424" y="573329"/>
                <a:ext cx="3263144" cy="145666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1A76BBC5-E840-74DD-A75D-8CE3B905A94F}"/>
                  </a:ext>
                </a:extLst>
              </p:cNvPr>
              <p:cNvSpPr/>
              <p:nvPr/>
            </p:nvSpPr>
            <p:spPr>
              <a:xfrm>
                <a:off x="231424" y="4894130"/>
                <a:ext cx="3263144" cy="1456660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Noise Model</a:t>
                </a:r>
              </a:p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𝑆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acc>
                        <m:accPr>
                          <m:chr m:val="̃"/>
                          <m:ctrlP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</m:acc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 ∼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(0,</m:t>
                      </m:r>
                      <m:sSubSup>
                        <m:sSubSupPr>
                          <m:ctrlP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</m:sub>
                        <m:sup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sup>
                      </m:sSubSup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1A76BBC5-E840-74DD-A75D-8CE3B905A94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1424" y="4894130"/>
                <a:ext cx="3263144" cy="145666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848102AF-15DD-A96B-AB59-209D58ED4411}"/>
                  </a:ext>
                </a:extLst>
              </p:cNvPr>
              <p:cNvSpPr/>
              <p:nvPr/>
            </p:nvSpPr>
            <p:spPr>
              <a:xfrm>
                <a:off x="231424" y="2731071"/>
                <a:ext cx="3263144" cy="1456660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Discrepancy Parameterization</a:t>
                </a:r>
              </a:p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𝛿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848102AF-15DD-A96B-AB59-209D58ED441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1424" y="2731071"/>
                <a:ext cx="3263144" cy="145666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C1C66D90-B334-22F0-98D3-83B8304E36B2}"/>
                  </a:ext>
                </a:extLst>
              </p:cNvPr>
              <p:cNvSpPr/>
              <p:nvPr/>
            </p:nvSpPr>
            <p:spPr>
              <a:xfrm>
                <a:off x="8697432" y="2731071"/>
                <a:ext cx="3263144" cy="1456660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Optimization Solution Posterior</a:t>
                </a:r>
              </a:p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𝑝𝑜𝑠𝑡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̃"/>
                          <m:ctrlP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acc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p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𝑝𝑜𝑠𝑡</m:t>
                          </m:r>
                        </m:sub>
                      </m:sSub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C1C66D90-B334-22F0-98D3-83B8304E36B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97432" y="2731071"/>
                <a:ext cx="3263144" cy="1456660"/>
              </a:xfrm>
              <a:prstGeom prst="rect">
                <a:avLst/>
              </a:prstGeom>
              <a:blipFill>
                <a:blip r:embed="rId6"/>
                <a:stretch>
                  <a:fillRect l="-1158" r="-11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2FDF8C7-3985-1A6B-67EF-CD009F3C4C29}"/>
              </a:ext>
            </a:extLst>
          </p:cNvPr>
          <p:cNvCxnSpPr>
            <a:cxnSpLocks/>
          </p:cNvCxnSpPr>
          <p:nvPr/>
        </p:nvCxnSpPr>
        <p:spPr>
          <a:xfrm>
            <a:off x="7727572" y="3447044"/>
            <a:ext cx="969860" cy="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F9363CBE-7D46-3AE7-961C-AB6C7A07433E}"/>
              </a:ext>
            </a:extLst>
          </p:cNvPr>
          <p:cNvCxnSpPr>
            <a:cxnSpLocks/>
          </p:cNvCxnSpPr>
          <p:nvPr/>
        </p:nvCxnSpPr>
        <p:spPr>
          <a:xfrm>
            <a:off x="3494568" y="3450745"/>
            <a:ext cx="969860" cy="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3D8C9EC7-5B82-CFD7-7DF3-16FD29FCF72B}"/>
                  </a:ext>
                </a:extLst>
              </p:cNvPr>
              <p:cNvSpPr/>
              <p:nvPr/>
            </p:nvSpPr>
            <p:spPr>
              <a:xfrm>
                <a:off x="8697432" y="307182"/>
                <a:ext cx="3263144" cy="145666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Low-Fidelity Optimization</a:t>
                </a:r>
              </a:p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acc>
                                <m:accPr>
                                  <m:chr m:val="̃"/>
                                  <m:ctrlP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e>
                              </m:acc>
                              <m:r>
                                <a:rPr lang="en-US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arg</m:t>
                              </m:r>
                              <m:r>
                                <m:rPr>
                                  <m:sty m:val="p"/>
                                </m:rPr>
                                <a:rPr lang="en-US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lim>
                          </m:limLow>
                        </m:fName>
                        <m:e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𝐽</m:t>
                          </m:r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acc>
                            <m:accPr>
                              <m:chr m:val="̃"/>
                              <m:ctrlP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d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3D8C9EC7-5B82-CFD7-7DF3-16FD29FCF72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97432" y="307182"/>
                <a:ext cx="3263144" cy="145666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1B496FF6-0D4D-2226-9417-277102B904E9}"/>
                  </a:ext>
                </a:extLst>
              </p:cNvPr>
              <p:cNvSpPr/>
              <p:nvPr/>
            </p:nvSpPr>
            <p:spPr>
              <a:xfrm>
                <a:off x="4464428" y="310896"/>
                <a:ext cx="3263144" cy="145666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High-Fidelity Data</a:t>
                </a:r>
              </a:p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ℓ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𝑧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acc>
                                <m:accPr>
                                  <m:chr m:val="̃"/>
                                  <m:ctrlP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</m:acc>
                              <m:d>
                                <m:dPr>
                                  <m:ctrlP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𝑧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  <m:sub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ℓ=1</m:t>
                          </m:r>
                        </m:sub>
                        <m:sup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</m:sSubSup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1B496FF6-0D4D-2226-9417-277102B904E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64428" y="310896"/>
                <a:ext cx="3263144" cy="145666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7B036B66-CAF2-CD85-0116-9CABB81FFA9F}"/>
              </a:ext>
            </a:extLst>
          </p:cNvPr>
          <p:cNvCxnSpPr>
            <a:cxnSpLocks/>
          </p:cNvCxnSpPr>
          <p:nvPr/>
        </p:nvCxnSpPr>
        <p:spPr>
          <a:xfrm>
            <a:off x="10415016" y="1776198"/>
            <a:ext cx="0" cy="98586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29E46B71-DE7E-E3BF-26FC-74309364308F}"/>
              </a:ext>
            </a:extLst>
          </p:cNvPr>
          <p:cNvCxnSpPr>
            <a:cxnSpLocks/>
          </p:cNvCxnSpPr>
          <p:nvPr/>
        </p:nvCxnSpPr>
        <p:spPr>
          <a:xfrm>
            <a:off x="6093105" y="1771853"/>
            <a:ext cx="0" cy="98586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69337E3E-AA40-C6F9-C5FF-CE6DE7E0FAC7}"/>
              </a:ext>
            </a:extLst>
          </p:cNvPr>
          <p:cNvCxnSpPr>
            <a:cxnSpLocks/>
          </p:cNvCxnSpPr>
          <p:nvPr/>
        </p:nvCxnSpPr>
        <p:spPr>
          <a:xfrm>
            <a:off x="3494568" y="2029989"/>
            <a:ext cx="969860" cy="701082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90E3486E-B97D-74BB-82D1-C473A08F1760}"/>
              </a:ext>
            </a:extLst>
          </p:cNvPr>
          <p:cNvCxnSpPr>
            <a:cxnSpLocks/>
          </p:cNvCxnSpPr>
          <p:nvPr/>
        </p:nvCxnSpPr>
        <p:spPr>
          <a:xfrm flipV="1">
            <a:off x="3494568" y="4205682"/>
            <a:ext cx="969860" cy="701723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E77FCAF6-2DD2-E47D-80BB-DAD72B259D3F}"/>
              </a:ext>
            </a:extLst>
          </p:cNvPr>
          <p:cNvSpPr txBox="1"/>
          <p:nvPr/>
        </p:nvSpPr>
        <p:spPr>
          <a:xfrm>
            <a:off x="5302578" y="5438614"/>
            <a:ext cx="158105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Discrepancy</a:t>
            </a:r>
          </a:p>
          <a:p>
            <a:pPr algn="ctr"/>
            <a:r>
              <a:rPr lang="en-US" dirty="0"/>
              <a:t>Calibration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BCAA36-CFD1-1162-4BB8-43E853A64639}"/>
              </a:ext>
            </a:extLst>
          </p:cNvPr>
          <p:cNvSpPr txBox="1"/>
          <p:nvPr/>
        </p:nvSpPr>
        <p:spPr>
          <a:xfrm>
            <a:off x="9454837" y="5438615"/>
            <a:ext cx="18929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Optimal Solution Updating</a:t>
            </a:r>
          </a:p>
        </p:txBody>
      </p:sp>
    </p:spTree>
    <p:extLst>
      <p:ext uri="{BB962C8B-B14F-4D97-AF65-F5344CB8AC3E}">
        <p14:creationId xmlns:p14="http://schemas.microsoft.com/office/powerpoint/2010/main" val="16312311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Rectangle 147">
            <a:extLst>
              <a:ext uri="{FF2B5EF4-FFF2-40B4-BE49-F238E27FC236}">
                <a16:creationId xmlns:a16="http://schemas.microsoft.com/office/drawing/2014/main" id="{EF978D2A-1381-D7B5-E989-2BFC226306FC}"/>
              </a:ext>
            </a:extLst>
          </p:cNvPr>
          <p:cNvSpPr/>
          <p:nvPr/>
        </p:nvSpPr>
        <p:spPr>
          <a:xfrm>
            <a:off x="3699641" y="4096297"/>
            <a:ext cx="6643239" cy="1174205"/>
          </a:xfrm>
          <a:prstGeom prst="rect">
            <a:avLst/>
          </a:prstGeom>
          <a:solidFill>
            <a:schemeClr val="accent5">
              <a:alpha val="10196"/>
            </a:schemeClr>
          </a:solidFill>
          <a:ln w="12700">
            <a:noFill/>
            <a:prstDash val="lg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B5EECA66-4447-1A38-02CF-5DC22A2CB3E8}"/>
              </a:ext>
            </a:extLst>
          </p:cNvPr>
          <p:cNvSpPr/>
          <p:nvPr/>
        </p:nvSpPr>
        <p:spPr>
          <a:xfrm>
            <a:off x="3699641" y="1497944"/>
            <a:ext cx="6643239" cy="2527518"/>
          </a:xfrm>
          <a:prstGeom prst="rect">
            <a:avLst/>
          </a:prstGeom>
          <a:solidFill>
            <a:srgbClr val="0F9ED5">
              <a:alpha val="10196"/>
            </a:srgbClr>
          </a:solidFill>
          <a:ln w="12700">
            <a:noFill/>
            <a:prstDash val="lg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196B7B58-4435-B93F-BC11-6549FDF5AD7D}"/>
              </a:ext>
            </a:extLst>
          </p:cNvPr>
          <p:cNvSpPr/>
          <p:nvPr/>
        </p:nvSpPr>
        <p:spPr>
          <a:xfrm>
            <a:off x="391069" y="1497944"/>
            <a:ext cx="3208938" cy="3772558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noFill/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r"/>
            <a:endParaRPr lang="en-US" sz="1400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44" name="Straight Arrow Connector 143">
            <a:extLst>
              <a:ext uri="{FF2B5EF4-FFF2-40B4-BE49-F238E27FC236}">
                <a16:creationId xmlns:a16="http://schemas.microsoft.com/office/drawing/2014/main" id="{85FCC344-BF82-CBDB-B39D-C0621C5868F4}"/>
              </a:ext>
            </a:extLst>
          </p:cNvPr>
          <p:cNvCxnSpPr>
            <a:cxnSpLocks/>
            <a:stCxn id="2" idx="0"/>
            <a:endCxn id="18" idx="2"/>
          </p:cNvCxnSpPr>
          <p:nvPr/>
        </p:nvCxnSpPr>
        <p:spPr>
          <a:xfrm>
            <a:off x="1995538" y="1667420"/>
            <a:ext cx="0" cy="3435873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4A96C724-D07B-BE85-CB61-ED8E55AD3FF0}"/>
              </a:ext>
            </a:extLst>
          </p:cNvPr>
          <p:cNvCxnSpPr>
            <a:cxnSpLocks/>
            <a:stCxn id="23" idx="2"/>
            <a:endCxn id="25" idx="0"/>
          </p:cNvCxnSpPr>
          <p:nvPr/>
        </p:nvCxnSpPr>
        <p:spPr>
          <a:xfrm>
            <a:off x="8684282" y="2530658"/>
            <a:ext cx="0" cy="1705093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2" name="Group 41">
            <a:extLst>
              <a:ext uri="{FF2B5EF4-FFF2-40B4-BE49-F238E27FC236}">
                <a16:creationId xmlns:a16="http://schemas.microsoft.com/office/drawing/2014/main" id="{7A7D7B1B-5B33-818F-7285-07BF6F42D806}"/>
              </a:ext>
            </a:extLst>
          </p:cNvPr>
          <p:cNvGrpSpPr/>
          <p:nvPr/>
        </p:nvGrpSpPr>
        <p:grpSpPr>
          <a:xfrm>
            <a:off x="545110" y="2958004"/>
            <a:ext cx="2900856" cy="867542"/>
            <a:chOff x="777764" y="2661745"/>
            <a:chExt cx="2900856" cy="867542"/>
          </a:xfrm>
        </p:grpSpPr>
        <p:sp>
          <p:nvSpPr>
            <p:cNvPr id="16" name="Rounded Rectangle 15">
              <a:extLst>
                <a:ext uri="{FF2B5EF4-FFF2-40B4-BE49-F238E27FC236}">
                  <a16:creationId xmlns:a16="http://schemas.microsoft.com/office/drawing/2014/main" id="{E7833A82-14D0-CD66-41F6-CAC3F128323E}"/>
                </a:ext>
              </a:extLst>
            </p:cNvPr>
            <p:cNvSpPr/>
            <p:nvPr/>
          </p:nvSpPr>
          <p:spPr>
            <a:xfrm>
              <a:off x="777764" y="2661745"/>
              <a:ext cx="2900856" cy="867542"/>
            </a:xfrm>
            <a:prstGeom prst="round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>
                <a:lnSpc>
                  <a:spcPts val="600"/>
                </a:lnSpc>
              </a:pPr>
              <a:endParaRPr lang="en-US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ctr">
                <a:lnSpc>
                  <a:spcPts val="600"/>
                </a:lnSpc>
              </a:pPr>
              <a:endParaRPr lang="en-US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ctr">
                <a:lnSpc>
                  <a:spcPts val="600"/>
                </a:lnSpc>
              </a:pPr>
              <a:r>
                <a:rPr lang="en-US" sz="14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Discrepancy parameterization</a:t>
              </a:r>
            </a:p>
          </p:txBody>
        </p:sp>
        <p:pic>
          <p:nvPicPr>
            <p:cNvPr id="29" name="Picture 28">
              <a:extLst>
                <a:ext uri="{FF2B5EF4-FFF2-40B4-BE49-F238E27FC236}">
                  <a16:creationId xmlns:a16="http://schemas.microsoft.com/office/drawing/2014/main" id="{E58E635B-6F41-3BB8-59B2-1CB5C206AB2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32792" y="3068271"/>
              <a:ext cx="2590800" cy="330200"/>
            </a:xfrm>
            <a:prstGeom prst="rect">
              <a:avLst/>
            </a:prstGeom>
          </p:spPr>
        </p:pic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9363E96A-C2F5-4B48-E0D6-11B0A0E81316}"/>
              </a:ext>
            </a:extLst>
          </p:cNvPr>
          <p:cNvGrpSpPr/>
          <p:nvPr/>
        </p:nvGrpSpPr>
        <p:grpSpPr>
          <a:xfrm>
            <a:off x="545110" y="4235751"/>
            <a:ext cx="2900856" cy="867542"/>
            <a:chOff x="777764" y="3656070"/>
            <a:chExt cx="2900856" cy="867542"/>
          </a:xfrm>
        </p:grpSpPr>
        <p:sp>
          <p:nvSpPr>
            <p:cNvPr id="18" name="Rounded Rectangle 17">
              <a:extLst>
                <a:ext uri="{FF2B5EF4-FFF2-40B4-BE49-F238E27FC236}">
                  <a16:creationId xmlns:a16="http://schemas.microsoft.com/office/drawing/2014/main" id="{505194FA-4258-697F-8747-AC4B67FB55A9}"/>
                </a:ext>
              </a:extLst>
            </p:cNvPr>
            <p:cNvSpPr/>
            <p:nvPr/>
          </p:nvSpPr>
          <p:spPr>
            <a:xfrm>
              <a:off x="777764" y="3656070"/>
              <a:ext cx="2900856" cy="867542"/>
            </a:xfrm>
            <a:prstGeom prst="round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>
                <a:lnSpc>
                  <a:spcPts val="600"/>
                </a:lnSpc>
              </a:pPr>
              <a:endParaRPr lang="en-US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ctr">
                <a:lnSpc>
                  <a:spcPts val="600"/>
                </a:lnSpc>
              </a:pPr>
              <a:endParaRPr lang="en-US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ctr">
                <a:lnSpc>
                  <a:spcPts val="600"/>
                </a:lnSpc>
              </a:pPr>
              <a:r>
                <a:rPr lang="en-US" sz="14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Discrepancy noise model</a:t>
              </a:r>
            </a:p>
          </p:txBody>
        </p:sp>
        <p:pic>
          <p:nvPicPr>
            <p:cNvPr id="30" name="Picture 29">
              <a:extLst>
                <a:ext uri="{FF2B5EF4-FFF2-40B4-BE49-F238E27FC236}">
                  <a16:creationId xmlns:a16="http://schemas.microsoft.com/office/drawing/2014/main" id="{F277ACF9-1A17-2A2D-E3D5-9E37732A88D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05842" y="4115241"/>
              <a:ext cx="2044700" cy="215900"/>
            </a:xfrm>
            <a:prstGeom prst="rect">
              <a:avLst/>
            </a:prstGeom>
          </p:spPr>
        </p:pic>
      </p:grp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8B3CA3DE-3D45-541D-D733-D54307CF52D7}"/>
              </a:ext>
            </a:extLst>
          </p:cNvPr>
          <p:cNvSpPr/>
          <p:nvPr/>
        </p:nvSpPr>
        <p:spPr>
          <a:xfrm>
            <a:off x="545110" y="1667420"/>
            <a:ext cx="2900856" cy="867542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lnSpc>
                <a:spcPts val="600"/>
              </a:lnSpc>
            </a:pPr>
            <a:endParaRPr lang="en-US" sz="14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>
              <a:lnSpc>
                <a:spcPts val="600"/>
              </a:lnSpc>
            </a:pPr>
            <a:endParaRPr lang="en-US" sz="14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>
              <a:lnSpc>
                <a:spcPts val="600"/>
              </a:lnSpc>
            </a:pPr>
            <a:r>
              <a:rPr lang="en-US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Prior parameter distribution</a:t>
            </a:r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D30EA1E1-ECA8-DD20-8982-AAF5EE763543}"/>
              </a:ext>
            </a:extLst>
          </p:cNvPr>
          <p:cNvGrpSpPr/>
          <p:nvPr/>
        </p:nvGrpSpPr>
        <p:grpSpPr>
          <a:xfrm>
            <a:off x="3889482" y="4235751"/>
            <a:ext cx="2900856" cy="867542"/>
            <a:chOff x="4307270" y="2661745"/>
            <a:chExt cx="2900856" cy="867542"/>
          </a:xfrm>
        </p:grpSpPr>
        <p:sp>
          <p:nvSpPr>
            <p:cNvPr id="20" name="Rounded Rectangle 19">
              <a:extLst>
                <a:ext uri="{FF2B5EF4-FFF2-40B4-BE49-F238E27FC236}">
                  <a16:creationId xmlns:a16="http://schemas.microsoft.com/office/drawing/2014/main" id="{C06DBA51-A08C-CF7B-A034-BB0E969C8B60}"/>
                </a:ext>
              </a:extLst>
            </p:cNvPr>
            <p:cNvSpPr/>
            <p:nvPr/>
          </p:nvSpPr>
          <p:spPr>
            <a:xfrm>
              <a:off x="4307270" y="2661745"/>
              <a:ext cx="2900856" cy="867542"/>
            </a:xfrm>
            <a:prstGeom prst="round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Discrepancy calibration</a:t>
              </a:r>
            </a:p>
            <a:p>
              <a:pPr algn="ctr"/>
              <a:r>
                <a:rPr lang="en-US" sz="14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(Bayesian linear regression)</a:t>
              </a:r>
            </a:p>
          </p:txBody>
        </p:sp>
        <p:pic>
          <p:nvPicPr>
            <p:cNvPr id="32" name="Picture 31">
              <a:extLst>
                <a:ext uri="{FF2B5EF4-FFF2-40B4-BE49-F238E27FC236}">
                  <a16:creationId xmlns:a16="http://schemas.microsoft.com/office/drawing/2014/main" id="{E3EA66CA-5BFB-DE32-D264-384C405B692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951248" y="3231056"/>
              <a:ext cx="1612900" cy="203200"/>
            </a:xfrm>
            <a:prstGeom prst="rect">
              <a:avLst/>
            </a:prstGeom>
          </p:spPr>
        </p:pic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C3D69103-0DA7-F484-2D50-B608A2490871}"/>
              </a:ext>
            </a:extLst>
          </p:cNvPr>
          <p:cNvGrpSpPr/>
          <p:nvPr/>
        </p:nvGrpSpPr>
        <p:grpSpPr>
          <a:xfrm>
            <a:off x="7233854" y="1663116"/>
            <a:ext cx="2900856" cy="867542"/>
            <a:chOff x="8513380" y="890750"/>
            <a:chExt cx="2900856" cy="867542"/>
          </a:xfrm>
        </p:grpSpPr>
        <p:sp>
          <p:nvSpPr>
            <p:cNvPr id="23" name="Rounded Rectangle 22">
              <a:extLst>
                <a:ext uri="{FF2B5EF4-FFF2-40B4-BE49-F238E27FC236}">
                  <a16:creationId xmlns:a16="http://schemas.microsoft.com/office/drawing/2014/main" id="{2ADD15CE-E3B1-810E-F66E-AD7133BEEACF}"/>
                </a:ext>
              </a:extLst>
            </p:cNvPr>
            <p:cNvSpPr/>
            <p:nvPr/>
          </p:nvSpPr>
          <p:spPr>
            <a:xfrm>
              <a:off x="8513380" y="890750"/>
              <a:ext cx="2900856" cy="867542"/>
            </a:xfrm>
            <a:prstGeom prst="round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Solution to surrogate-constrained optimization problem</a:t>
              </a:r>
            </a:p>
          </p:txBody>
        </p:sp>
        <p:pic>
          <p:nvPicPr>
            <p:cNvPr id="34" name="Picture 33">
              <a:extLst>
                <a:ext uri="{FF2B5EF4-FFF2-40B4-BE49-F238E27FC236}">
                  <a16:creationId xmlns:a16="http://schemas.microsoft.com/office/drawing/2014/main" id="{5BD23DA7-4C3B-D3F2-B1C3-CCCA7451A48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722508" y="1480199"/>
              <a:ext cx="482600" cy="190500"/>
            </a:xfrm>
            <a:prstGeom prst="rect">
              <a:avLst/>
            </a:prstGeom>
          </p:spPr>
        </p:pic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12794B4A-3B6A-2EEF-D583-E8C6C182A6CC}"/>
              </a:ext>
            </a:extLst>
          </p:cNvPr>
          <p:cNvGrpSpPr/>
          <p:nvPr/>
        </p:nvGrpSpPr>
        <p:grpSpPr>
          <a:xfrm>
            <a:off x="7233854" y="4235751"/>
            <a:ext cx="2900856" cy="867542"/>
            <a:chOff x="8479791" y="3656070"/>
            <a:chExt cx="2900856" cy="867542"/>
          </a:xfrm>
          <a:solidFill>
            <a:schemeClr val="bg1"/>
          </a:solidFill>
        </p:grpSpPr>
        <p:sp>
          <p:nvSpPr>
            <p:cNvPr id="25" name="Rounded Rectangle 24">
              <a:extLst>
                <a:ext uri="{FF2B5EF4-FFF2-40B4-BE49-F238E27FC236}">
                  <a16:creationId xmlns:a16="http://schemas.microsoft.com/office/drawing/2014/main" id="{BAE5C3F9-DE44-9C29-14A0-EF6A2B0EB97E}"/>
                </a:ext>
              </a:extLst>
            </p:cNvPr>
            <p:cNvSpPr/>
            <p:nvPr/>
          </p:nvSpPr>
          <p:spPr>
            <a:xfrm>
              <a:off x="8479791" y="3656070"/>
              <a:ext cx="2900856" cy="867542"/>
            </a:xfrm>
            <a:prstGeom prst="roundRect">
              <a:avLst>
                <a:gd name="adj" fmla="val 0"/>
              </a:avLst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>
                <a:lnSpc>
                  <a:spcPts val="600"/>
                </a:lnSpc>
              </a:pPr>
              <a:endParaRPr lang="en-US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ctr">
                <a:lnSpc>
                  <a:spcPts val="600"/>
                </a:lnSpc>
              </a:pPr>
              <a:endParaRPr lang="en-US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ctr">
                <a:lnSpc>
                  <a:spcPts val="600"/>
                </a:lnSpc>
              </a:pPr>
              <a:endParaRPr lang="en-US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ctr">
                <a:lnSpc>
                  <a:spcPts val="600"/>
                </a:lnSpc>
              </a:pPr>
              <a:r>
                <a:rPr lang="en-US" sz="14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Optimization solution update</a:t>
              </a:r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A9FD8C1C-024D-405E-D0AE-2B2F6848710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9297058" y="4115241"/>
              <a:ext cx="1333500" cy="165100"/>
            </a:xfrm>
            <a:prstGeom prst="rect">
              <a:avLst/>
            </a:prstGeom>
            <a:grpFill/>
          </p:spPr>
        </p:pic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0F8798DD-758A-C61F-A28F-6ED4F738C99B}"/>
              </a:ext>
            </a:extLst>
          </p:cNvPr>
          <p:cNvGrpSpPr/>
          <p:nvPr/>
        </p:nvGrpSpPr>
        <p:grpSpPr>
          <a:xfrm>
            <a:off x="7233854" y="2943116"/>
            <a:ext cx="2900856" cy="867542"/>
            <a:chOff x="8513380" y="4248531"/>
            <a:chExt cx="2900856" cy="867542"/>
          </a:xfrm>
        </p:grpSpPr>
        <p:sp>
          <p:nvSpPr>
            <p:cNvPr id="26" name="Rounded Rectangle 25">
              <a:extLst>
                <a:ext uri="{FF2B5EF4-FFF2-40B4-BE49-F238E27FC236}">
                  <a16:creationId xmlns:a16="http://schemas.microsoft.com/office/drawing/2014/main" id="{1677ED4E-61DD-D31D-890A-79859C156F1F}"/>
                </a:ext>
              </a:extLst>
            </p:cNvPr>
            <p:cNvSpPr/>
            <p:nvPr/>
          </p:nvSpPr>
          <p:spPr>
            <a:xfrm>
              <a:off x="8513380" y="4248531"/>
              <a:ext cx="2900856" cy="867542"/>
            </a:xfrm>
            <a:prstGeom prst="round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>
                <a:lnSpc>
                  <a:spcPts val="600"/>
                </a:lnSpc>
              </a:pPr>
              <a:endParaRPr lang="en-US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ctr">
                <a:lnSpc>
                  <a:spcPts val="600"/>
                </a:lnSpc>
              </a:pPr>
              <a:endParaRPr lang="en-US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ctr">
                <a:lnSpc>
                  <a:spcPts val="600"/>
                </a:lnSpc>
              </a:pPr>
              <a:r>
                <a:rPr lang="en-US" sz="14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Surrogate problem derivatives</a:t>
              </a:r>
            </a:p>
          </p:txBody>
        </p:sp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F26D9879-1623-2E51-68AC-916A97E3E0E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8681108" y="4686466"/>
              <a:ext cx="2565400" cy="215900"/>
            </a:xfrm>
            <a:prstGeom prst="rect">
              <a:avLst/>
            </a:prstGeom>
          </p:spPr>
        </p:pic>
      </p:grp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5EED4753-6CCF-385E-E3B9-09F0A246B9EE}"/>
              </a:ext>
            </a:extLst>
          </p:cNvPr>
          <p:cNvCxnSpPr>
            <a:cxnSpLocks/>
            <a:stCxn id="20" idx="3"/>
            <a:endCxn id="25" idx="1"/>
          </p:cNvCxnSpPr>
          <p:nvPr/>
        </p:nvCxnSpPr>
        <p:spPr>
          <a:xfrm>
            <a:off x="6790338" y="4669522"/>
            <a:ext cx="443516" cy="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40A74146-1B8E-9173-8386-0F1D3FE77AAA}"/>
              </a:ext>
            </a:extLst>
          </p:cNvPr>
          <p:cNvCxnSpPr>
            <a:cxnSpLocks/>
            <a:stCxn id="22" idx="2"/>
            <a:endCxn id="20" idx="0"/>
          </p:cNvCxnSpPr>
          <p:nvPr/>
        </p:nvCxnSpPr>
        <p:spPr>
          <a:xfrm>
            <a:off x="5339910" y="2530658"/>
            <a:ext cx="0" cy="1705093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TextBox 118">
            <a:extLst>
              <a:ext uri="{FF2B5EF4-FFF2-40B4-BE49-F238E27FC236}">
                <a16:creationId xmlns:a16="http://schemas.microsoft.com/office/drawing/2014/main" id="{CD0D19A2-B0F3-D181-5AA6-408678A394C3}"/>
              </a:ext>
            </a:extLst>
          </p:cNvPr>
          <p:cNvSpPr txBox="1"/>
          <p:nvPr/>
        </p:nvSpPr>
        <p:spPr>
          <a:xfrm>
            <a:off x="700138" y="1203306"/>
            <a:ext cx="259680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i="1" dirty="0">
                <a:latin typeface="Arial" panose="020B0604020202020204" pitchFamily="34" charset="0"/>
                <a:cs typeface="Arial" panose="020B0604020202020204" pitchFamily="34" charset="0"/>
              </a:rPr>
              <a:t>Model discrepancy formulation</a:t>
            </a: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5541AB3F-6E08-166D-D28D-9E8AAC5C6E14}"/>
              </a:ext>
            </a:extLst>
          </p:cNvPr>
          <p:cNvSpPr txBox="1"/>
          <p:nvPr/>
        </p:nvSpPr>
        <p:spPr>
          <a:xfrm>
            <a:off x="5400994" y="1203306"/>
            <a:ext cx="33762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i="1" dirty="0">
                <a:solidFill>
                  <a:schemeClr val="accent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 and surrogate problem information</a:t>
            </a:r>
          </a:p>
        </p:txBody>
      </p:sp>
      <p:cxnSp>
        <p:nvCxnSpPr>
          <p:cNvPr id="137" name="Straight Arrow Connector 136">
            <a:extLst>
              <a:ext uri="{FF2B5EF4-FFF2-40B4-BE49-F238E27FC236}">
                <a16:creationId xmlns:a16="http://schemas.microsoft.com/office/drawing/2014/main" id="{D1D31EC7-96B1-315B-4E65-11814D004D8F}"/>
              </a:ext>
            </a:extLst>
          </p:cNvPr>
          <p:cNvCxnSpPr>
            <a:cxnSpLocks/>
            <a:stCxn id="18" idx="3"/>
            <a:endCxn id="20" idx="1"/>
          </p:cNvCxnSpPr>
          <p:nvPr/>
        </p:nvCxnSpPr>
        <p:spPr>
          <a:xfrm>
            <a:off x="3445966" y="4669522"/>
            <a:ext cx="443516" cy="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5" name="TextBox 154">
            <a:extLst>
              <a:ext uri="{FF2B5EF4-FFF2-40B4-BE49-F238E27FC236}">
                <a16:creationId xmlns:a16="http://schemas.microsoft.com/office/drawing/2014/main" id="{C00E477B-4CCC-ED24-B39A-22327BF745BA}"/>
              </a:ext>
            </a:extLst>
          </p:cNvPr>
          <p:cNvSpPr txBox="1"/>
          <p:nvPr/>
        </p:nvSpPr>
        <p:spPr>
          <a:xfrm>
            <a:off x="6021365" y="5269796"/>
            <a:ext cx="213552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i="1" dirty="0">
                <a:solidFill>
                  <a:schemeClr val="accent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Sensitivity-based update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00BCDE1-EAB5-E23F-69D1-A906BDFEAD9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27188" y="2124481"/>
            <a:ext cx="1536700" cy="215900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1ED93D4A-B5D2-A427-14BE-F6CF8CDE220D}"/>
              </a:ext>
            </a:extLst>
          </p:cNvPr>
          <p:cNvGrpSpPr/>
          <p:nvPr/>
        </p:nvGrpSpPr>
        <p:grpSpPr>
          <a:xfrm>
            <a:off x="3889482" y="1663116"/>
            <a:ext cx="2900856" cy="867542"/>
            <a:chOff x="3889482" y="1663116"/>
            <a:chExt cx="2900856" cy="867542"/>
          </a:xfrm>
        </p:grpSpPr>
        <p:sp>
          <p:nvSpPr>
            <p:cNvPr id="22" name="Rounded Rectangle 21">
              <a:extLst>
                <a:ext uri="{FF2B5EF4-FFF2-40B4-BE49-F238E27FC236}">
                  <a16:creationId xmlns:a16="http://schemas.microsoft.com/office/drawing/2014/main" id="{A0D89A2B-DA86-1610-AAF8-514CF33BD3D9}"/>
                </a:ext>
              </a:extLst>
            </p:cNvPr>
            <p:cNvSpPr/>
            <p:nvPr/>
          </p:nvSpPr>
          <p:spPr>
            <a:xfrm>
              <a:off x="3889482" y="1663116"/>
              <a:ext cx="2900856" cy="867542"/>
            </a:xfrm>
            <a:prstGeom prst="round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>
                <a:lnSpc>
                  <a:spcPts val="600"/>
                </a:lnSpc>
              </a:pPr>
              <a:endParaRPr lang="en-US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ctr">
                <a:lnSpc>
                  <a:spcPts val="600"/>
                </a:lnSpc>
              </a:pPr>
              <a:endParaRPr lang="en-US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ctr">
                <a:lnSpc>
                  <a:spcPts val="600"/>
                </a:lnSpc>
              </a:pPr>
              <a:r>
                <a:rPr lang="en-US" sz="14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Large-scale / surrogate data</a:t>
              </a:r>
            </a:p>
          </p:txBody>
        </p:sp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5FF794BE-49AD-FA7B-6FE0-731BFA935ECE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4336610" y="2131849"/>
              <a:ext cx="2006600" cy="1905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60011152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139</TotalTime>
  <Words>103</Words>
  <Application>Microsoft Macintosh PowerPoint</Application>
  <PresentationFormat>Widescreen</PresentationFormat>
  <Paragraphs>49</Paragraphs>
  <Slides>2</Slides>
  <Notes>0</Notes>
  <HiddenSlides>1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Aptos</vt:lpstr>
      <vt:lpstr>Aptos Display</vt:lpstr>
      <vt:lpstr>Arial</vt:lpstr>
      <vt:lpstr>Cambria Math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Hart, Joseph Lee</dc:creator>
  <cp:lastModifiedBy>McQuarrie, Shane Alexander</cp:lastModifiedBy>
  <cp:revision>8</cp:revision>
  <dcterms:created xsi:type="dcterms:W3CDTF">2025-03-12T21:19:29Z</dcterms:created>
  <dcterms:modified xsi:type="dcterms:W3CDTF">2025-05-06T17:42:53Z</dcterms:modified>
</cp:coreProperties>
</file>