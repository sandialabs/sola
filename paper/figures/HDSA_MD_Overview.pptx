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0"/>
    <p:restoredTop sz="96327"/>
  </p:normalViewPr>
  <p:slideViewPr>
    <p:cSldViewPr snapToGrid="0">
      <p:cViewPr varScale="1">
        <p:scale>
          <a:sx n="128" d="100"/>
          <a:sy n="128" d="100"/>
        </p:scale>
        <p:origin x="416" y="176"/>
      </p:cViewPr>
      <p:guideLst>
        <p:guide orient="horz" pos="2160"/>
        <p:guide pos="6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F917A-3D2A-580A-62A1-7348A38F4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501C7-3176-18F8-E5AA-2E05B5F9A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49018-422C-8700-C460-26C00270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D0F45-50E3-9BD9-9559-DE342E6B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83A0F-8D81-3E78-ADD3-BA91266CC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200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9D5E9-DB6C-9E1D-AC71-B2F4BDB51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F683D-0FAB-A296-BF30-821DDB325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2C528-E8DC-A226-941D-3F7CC012E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A8C78-79AA-AD26-F988-7C16D260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1F3A0-C309-71EE-7792-77C9D475F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6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58470-32B2-61E5-F67B-49ED76044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6A82-F8B6-15E5-15BF-9DCFCAF19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5E308-EA25-F71E-E3A5-D80CBBFE3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EF881-0C9B-31E4-35E8-19B1418DB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97BE6-CE5F-FD2E-AD13-6839E8843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63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E5C6B-9B7D-748B-4FC3-1E322E2C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72B8-F6BB-4BE1-AB5D-449927F68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F3B40-77EA-9EA9-0C13-396E3C2F1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DED26-BD13-7953-51DF-7093AC9FB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61A9E-1D44-B4B7-C640-830474338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77902-CD2E-BFD0-0E1D-64B188E0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44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5977F-A6BF-2D25-5EEB-07C4D95B5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61F3B-FE36-719A-8CCF-9CE22167A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02CFED-65A7-9D5C-B6FE-24D7608C3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D8C695-1D3E-0575-8E98-791673125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15765-C4F4-BA6D-F3F2-2139F432AB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2F768-821C-0CF2-86E1-8DB594737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5E0A3-10A7-EC19-38DB-F0E7398FD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0068D6-A902-79E1-E726-FA99AC5C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98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BF9A-08D0-B6FE-6E68-229707DB6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39B5AA-AADD-2F31-6613-2CBE46AC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2114B-8090-7777-8811-0BCCF4232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9948E-CE7F-07A1-BF9E-423053EE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37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6B65DF-A1A3-B2C6-EFC3-5DD627A5D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1131D-DD1B-2B4D-BA01-76F34820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87AEE-E57C-4246-7D7E-B3C46C80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3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7E05-8CD8-6D44-E772-E9AAB052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3313A-06B1-A647-0538-394ED0FD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B1627-2852-EF7E-AE5A-0A3B310B9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7D1C1-C9CF-65B3-D8EE-497233265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324A4-0962-E11D-0293-A9DA2170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BC174-6203-BF70-1F35-FFB2FB73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9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E6159-6490-B92C-F20D-B428BD3B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E966E-1B81-30C9-6A29-E0F353D145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BC9A23-DF9D-27E2-717C-25639A203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AD325-2C74-6674-6B38-B913DA17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9DD20-AA72-2258-26D9-E5C749197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3DE79-E2C7-6A45-222E-6DCB38FB7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30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B8CE-922E-1EAE-2F45-855F9A00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21CD9-1607-EE2C-02A4-7BBCC58A96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7D366-91F4-EB0A-A691-FB74E1087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5AD8B-6BD4-229A-6889-73041600F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4088-584C-6DB3-FD89-D9E59017B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1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C250FB-2443-D0BE-8970-4CC9932F2A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4AD7F-1F7A-06A9-4967-13D97D89E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B37C9-578A-9C67-8147-AFD35A19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613E-B888-38F9-B980-D76E5A02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5BF71-C5C9-D003-66AE-C8E8C1DAD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289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1A78F-B9B4-E6F3-3C7B-AE59748BC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20FA1-9D8C-A6F9-E53C-28DB2D9DA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3BE51-211B-F720-4345-D51F37368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7A4ACA-080D-2846-BC7A-301AD37AA2EA}" type="datetimeFigureOut">
              <a:rPr lang="en-US" smtClean="0"/>
              <a:t>5/5/25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CBE30-452D-07DB-2359-096AD6959B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ED0A1-AE11-D5FF-83D1-0AA43F75C1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D8ADC5-77D2-384B-A75C-196E3C2AF9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67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Relationship Id="rId9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F5077D-AADB-A74F-4381-9E4A71860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5A1717-EF5E-4E81-3547-BFF19DAA9735}"/>
              </a:ext>
            </a:extLst>
          </p:cNvPr>
          <p:cNvSpPr/>
          <p:nvPr/>
        </p:nvSpPr>
        <p:spPr>
          <a:xfrm>
            <a:off x="8501448" y="148281"/>
            <a:ext cx="3599303" cy="6398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10A75-8F00-ECDE-87D5-0BF289DFFB3B}"/>
              </a:ext>
            </a:extLst>
          </p:cNvPr>
          <p:cNvSpPr/>
          <p:nvPr/>
        </p:nvSpPr>
        <p:spPr>
          <a:xfrm>
            <a:off x="135934" y="148281"/>
            <a:ext cx="7858882" cy="639882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42879C-E7BB-FDDB-25BF-A2B63BB81216}"/>
                  </a:ext>
                </a:extLst>
              </p:cNvPr>
              <p:cNvSpPr/>
              <p:nvPr/>
            </p:nvSpPr>
            <p:spPr>
              <a:xfrm>
                <a:off x="4464428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Discrepancy Posterior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342879C-E7BB-FDDB-25BF-A2B63BB812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428" y="2731071"/>
                <a:ext cx="3263144" cy="14566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AF06798-4C7B-59F4-61B3-92A61FC76EEE}"/>
                  </a:ext>
                </a:extLst>
              </p:cNvPr>
              <p:cNvSpPr/>
              <p:nvPr/>
            </p:nvSpPr>
            <p:spPr>
              <a:xfrm>
                <a:off x="231424" y="573329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Prior Distribution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𝑝𝑟𝑖𝑜𝑟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FAF06798-4C7B-59F4-61B3-92A61FC76E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573329"/>
                <a:ext cx="3263144" cy="14566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6BBC5-E840-74DD-A75D-8CE3B905A94F}"/>
                  </a:ext>
                </a:extLst>
              </p:cNvPr>
              <p:cNvSpPr/>
              <p:nvPr/>
            </p:nvSpPr>
            <p:spPr>
              <a:xfrm>
                <a:off x="231424" y="4894130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Noise Model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∼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(0,</m:t>
                      </m:r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A76BBC5-E840-74DD-A75D-8CE3B905A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4894130"/>
                <a:ext cx="3263144" cy="14566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8102AF-15DD-A96B-AB59-209D58ED4411}"/>
                  </a:ext>
                </a:extLst>
              </p:cNvPr>
              <p:cNvSpPr/>
              <p:nvPr/>
            </p:nvSpPr>
            <p:spPr>
              <a:xfrm>
                <a:off x="231424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Discrepancy Parameterization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848102AF-15DD-A96B-AB59-209D58ED44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24" y="2731071"/>
                <a:ext cx="3263144" cy="1456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C66D90-B334-22F0-98D3-83B8304E36B2}"/>
                  </a:ext>
                </a:extLst>
              </p:cNvPr>
              <p:cNvSpPr/>
              <p:nvPr/>
            </p:nvSpPr>
            <p:spPr>
              <a:xfrm>
                <a:off x="8697432" y="2731071"/>
                <a:ext cx="3263144" cy="14566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Optimization Solution Posterior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𝑝𝑜𝑠𝑡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C1C66D90-B334-22F0-98D3-83B8304E36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432" y="2731071"/>
                <a:ext cx="3263144" cy="1456660"/>
              </a:xfrm>
              <a:prstGeom prst="rect">
                <a:avLst/>
              </a:prstGeom>
              <a:blipFill>
                <a:blip r:embed="rId6"/>
                <a:stretch>
                  <a:fillRect l="-1158" r="-1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2FDF8C7-3985-1A6B-67EF-CD009F3C4C29}"/>
              </a:ext>
            </a:extLst>
          </p:cNvPr>
          <p:cNvCxnSpPr>
            <a:cxnSpLocks/>
          </p:cNvCxnSpPr>
          <p:nvPr/>
        </p:nvCxnSpPr>
        <p:spPr>
          <a:xfrm>
            <a:off x="7727572" y="3447044"/>
            <a:ext cx="96986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363CBE-7D46-3AE7-961C-AB6C7A07433E}"/>
              </a:ext>
            </a:extLst>
          </p:cNvPr>
          <p:cNvCxnSpPr>
            <a:cxnSpLocks/>
          </p:cNvCxnSpPr>
          <p:nvPr/>
        </p:nvCxnSpPr>
        <p:spPr>
          <a:xfrm>
            <a:off x="3494568" y="3450745"/>
            <a:ext cx="969860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D8C9EC7-5B82-CFD7-7DF3-16FD29FCF72B}"/>
                  </a:ext>
                </a:extLst>
              </p:cNvPr>
              <p:cNvSpPr/>
              <p:nvPr/>
            </p:nvSpPr>
            <p:spPr>
              <a:xfrm>
                <a:off x="8697432" y="307182"/>
                <a:ext cx="3263144" cy="1456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Low-Fidelity Optimization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acc>
                              <m:r>
                                <a:rPr lang="en-US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lim>
                          </m:limLow>
                        </m:fName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D8C9EC7-5B82-CFD7-7DF3-16FD29FCF7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432" y="307182"/>
                <a:ext cx="3263144" cy="14566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496FF6-0D4D-2226-9417-277102B904E9}"/>
                  </a:ext>
                </a:extLst>
              </p:cNvPr>
              <p:cNvSpPr/>
              <p:nvPr/>
            </p:nvSpPr>
            <p:spPr>
              <a:xfrm>
                <a:off x="4464428" y="310896"/>
                <a:ext cx="3263144" cy="145666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High-Fidelity Data</a:t>
                </a: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ℓ=1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1B496FF6-0D4D-2226-9417-277102B904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428" y="310896"/>
                <a:ext cx="3263144" cy="14566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036B66-CAF2-CD85-0116-9CABB81FFA9F}"/>
              </a:ext>
            </a:extLst>
          </p:cNvPr>
          <p:cNvCxnSpPr>
            <a:cxnSpLocks/>
          </p:cNvCxnSpPr>
          <p:nvPr/>
        </p:nvCxnSpPr>
        <p:spPr>
          <a:xfrm>
            <a:off x="10415016" y="1776198"/>
            <a:ext cx="0" cy="9858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9E46B71-DE7E-E3BF-26FC-74309364308F}"/>
              </a:ext>
            </a:extLst>
          </p:cNvPr>
          <p:cNvCxnSpPr>
            <a:cxnSpLocks/>
          </p:cNvCxnSpPr>
          <p:nvPr/>
        </p:nvCxnSpPr>
        <p:spPr>
          <a:xfrm>
            <a:off x="6093105" y="1771853"/>
            <a:ext cx="0" cy="98586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9337E3E-AA40-C6F9-C5FF-CE6DE7E0FAC7}"/>
              </a:ext>
            </a:extLst>
          </p:cNvPr>
          <p:cNvCxnSpPr>
            <a:cxnSpLocks/>
          </p:cNvCxnSpPr>
          <p:nvPr/>
        </p:nvCxnSpPr>
        <p:spPr>
          <a:xfrm>
            <a:off x="3494568" y="2029989"/>
            <a:ext cx="969860" cy="70108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0E3486E-B97D-74BB-82D1-C473A08F1760}"/>
              </a:ext>
            </a:extLst>
          </p:cNvPr>
          <p:cNvCxnSpPr>
            <a:cxnSpLocks/>
          </p:cNvCxnSpPr>
          <p:nvPr/>
        </p:nvCxnSpPr>
        <p:spPr>
          <a:xfrm flipV="1">
            <a:off x="3494568" y="4205682"/>
            <a:ext cx="969860" cy="7017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7FCAF6-2DD2-E47D-80BB-DAD72B259D3F}"/>
              </a:ext>
            </a:extLst>
          </p:cNvPr>
          <p:cNvSpPr txBox="1"/>
          <p:nvPr/>
        </p:nvSpPr>
        <p:spPr>
          <a:xfrm>
            <a:off x="5302578" y="5438614"/>
            <a:ext cx="1581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Discrepancy</a:t>
            </a:r>
          </a:p>
          <a:p>
            <a:pPr algn="ctr"/>
            <a:r>
              <a:rPr lang="en-US" dirty="0"/>
              <a:t>Calibration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BCAA36-CFD1-1162-4BB8-43E853A64639}"/>
              </a:ext>
            </a:extLst>
          </p:cNvPr>
          <p:cNvSpPr txBox="1"/>
          <p:nvPr/>
        </p:nvSpPr>
        <p:spPr>
          <a:xfrm>
            <a:off x="9454837" y="5438615"/>
            <a:ext cx="1892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Optimal Solution Updating</a:t>
            </a:r>
          </a:p>
        </p:txBody>
      </p:sp>
    </p:spTree>
    <p:extLst>
      <p:ext uri="{BB962C8B-B14F-4D97-AF65-F5344CB8AC3E}">
        <p14:creationId xmlns:p14="http://schemas.microsoft.com/office/powerpoint/2010/main" val="163123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47">
            <a:extLst>
              <a:ext uri="{FF2B5EF4-FFF2-40B4-BE49-F238E27FC236}">
                <a16:creationId xmlns:a16="http://schemas.microsoft.com/office/drawing/2014/main" id="{EF978D2A-1381-D7B5-E989-2BFC226306FC}"/>
              </a:ext>
            </a:extLst>
          </p:cNvPr>
          <p:cNvSpPr/>
          <p:nvPr/>
        </p:nvSpPr>
        <p:spPr>
          <a:xfrm>
            <a:off x="3699641" y="4096297"/>
            <a:ext cx="6643239" cy="1174205"/>
          </a:xfrm>
          <a:prstGeom prst="rect">
            <a:avLst/>
          </a:prstGeom>
          <a:solidFill>
            <a:schemeClr val="accent5">
              <a:alpha val="10196"/>
            </a:schemeClr>
          </a:solidFill>
          <a:ln w="12700">
            <a:noFill/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B5EECA66-4447-1A38-02CF-5DC22A2CB3E8}"/>
              </a:ext>
            </a:extLst>
          </p:cNvPr>
          <p:cNvSpPr/>
          <p:nvPr/>
        </p:nvSpPr>
        <p:spPr>
          <a:xfrm>
            <a:off x="3699641" y="1497944"/>
            <a:ext cx="6643239" cy="2527518"/>
          </a:xfrm>
          <a:prstGeom prst="rect">
            <a:avLst/>
          </a:prstGeom>
          <a:solidFill>
            <a:srgbClr val="0F9ED5">
              <a:alpha val="10196"/>
            </a:srgbClr>
          </a:solidFill>
          <a:ln w="12700">
            <a:noFill/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96B7B58-4435-B93F-BC11-6549FDF5AD7D}"/>
              </a:ext>
            </a:extLst>
          </p:cNvPr>
          <p:cNvSpPr/>
          <p:nvPr/>
        </p:nvSpPr>
        <p:spPr>
          <a:xfrm>
            <a:off x="391069" y="1497944"/>
            <a:ext cx="3208938" cy="377255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/>
            <a:endParaRPr lang="en-US" sz="14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85FCC344-BF82-CBDB-B39D-C0621C5868F4}"/>
              </a:ext>
            </a:extLst>
          </p:cNvPr>
          <p:cNvCxnSpPr>
            <a:cxnSpLocks/>
            <a:stCxn id="2" idx="0"/>
            <a:endCxn id="18" idx="2"/>
          </p:cNvCxnSpPr>
          <p:nvPr/>
        </p:nvCxnSpPr>
        <p:spPr>
          <a:xfrm>
            <a:off x="1995538" y="1667420"/>
            <a:ext cx="0" cy="343587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4A96C724-D07B-BE85-CB61-ED8E55AD3FF0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8684282" y="2530658"/>
            <a:ext cx="0" cy="170509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A7D7B1B-5B33-818F-7285-07BF6F42D806}"/>
              </a:ext>
            </a:extLst>
          </p:cNvPr>
          <p:cNvGrpSpPr/>
          <p:nvPr/>
        </p:nvGrpSpPr>
        <p:grpSpPr>
          <a:xfrm>
            <a:off x="545110" y="2958004"/>
            <a:ext cx="2900856" cy="867542"/>
            <a:chOff x="777764" y="2661745"/>
            <a:chExt cx="2900856" cy="867542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E7833A82-14D0-CD66-41F6-CAC3F128323E}"/>
                </a:ext>
              </a:extLst>
            </p:cNvPr>
            <p:cNvSpPr/>
            <p:nvPr/>
          </p:nvSpPr>
          <p:spPr>
            <a:xfrm>
              <a:off x="777764" y="2661745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Discrepancy parameterization</a:t>
              </a:r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58E635B-6F41-3BB8-59B2-1CB5C206AB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2792" y="3080628"/>
              <a:ext cx="2590800" cy="3302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363E96A-C2F5-4B48-E0D6-11B0A0E81316}"/>
              </a:ext>
            </a:extLst>
          </p:cNvPr>
          <p:cNvGrpSpPr/>
          <p:nvPr/>
        </p:nvGrpSpPr>
        <p:grpSpPr>
          <a:xfrm>
            <a:off x="545110" y="4235751"/>
            <a:ext cx="2900856" cy="867542"/>
            <a:chOff x="777764" y="3656070"/>
            <a:chExt cx="2900856" cy="867542"/>
          </a:xfrm>
        </p:grpSpPr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505194FA-4258-697F-8747-AC4B67FB55A9}"/>
                </a:ext>
              </a:extLst>
            </p:cNvPr>
            <p:cNvSpPr/>
            <p:nvPr/>
          </p:nvSpPr>
          <p:spPr>
            <a:xfrm>
              <a:off x="777764" y="3656070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Discrepancy noise model</a:t>
              </a:r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F277ACF9-1A17-2A2D-E3D5-9E37732A8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5842" y="4089841"/>
              <a:ext cx="2044700" cy="215900"/>
            </a:xfrm>
            <a:prstGeom prst="rect">
              <a:avLst/>
            </a:prstGeom>
          </p:spPr>
        </p:pic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B3CA3DE-3D45-541D-D733-D54307CF52D7}"/>
              </a:ext>
            </a:extLst>
          </p:cNvPr>
          <p:cNvSpPr/>
          <p:nvPr/>
        </p:nvSpPr>
        <p:spPr>
          <a:xfrm>
            <a:off x="545110" y="1667420"/>
            <a:ext cx="2900856" cy="867542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ts val="600"/>
              </a:lnSpc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600"/>
              </a:lnSpc>
            </a:pPr>
            <a:endParaRPr lang="en-US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600"/>
              </a:lnSpc>
            </a:pP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 parameter distribution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30EA1E1-ECA8-DD20-8982-AAF5EE763543}"/>
              </a:ext>
            </a:extLst>
          </p:cNvPr>
          <p:cNvGrpSpPr/>
          <p:nvPr/>
        </p:nvGrpSpPr>
        <p:grpSpPr>
          <a:xfrm>
            <a:off x="3889482" y="4235751"/>
            <a:ext cx="2900856" cy="867542"/>
            <a:chOff x="4307270" y="2661745"/>
            <a:chExt cx="2900856" cy="867542"/>
          </a:xfrm>
        </p:grpSpPr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C06DBA51-A08C-CF7B-A034-BB0E969C8B60}"/>
                </a:ext>
              </a:extLst>
            </p:cNvPr>
            <p:cNvSpPr/>
            <p:nvPr/>
          </p:nvSpPr>
          <p:spPr>
            <a:xfrm>
              <a:off x="4307270" y="2661745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Discrepancy calibration</a:t>
              </a:r>
            </a:p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(Bayesian linear regression)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3EA66CA-5BFB-DE32-D264-384C405B6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1248" y="3231056"/>
              <a:ext cx="1612900" cy="2032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3D69103-0DA7-F484-2D50-B608A2490871}"/>
              </a:ext>
            </a:extLst>
          </p:cNvPr>
          <p:cNvGrpSpPr/>
          <p:nvPr/>
        </p:nvGrpSpPr>
        <p:grpSpPr>
          <a:xfrm>
            <a:off x="7233854" y="1663116"/>
            <a:ext cx="2900856" cy="867542"/>
            <a:chOff x="8513380" y="890750"/>
            <a:chExt cx="2900856" cy="867542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ADD15CE-E3B1-810E-F66E-AD7133BEEACF}"/>
                </a:ext>
              </a:extLst>
            </p:cNvPr>
            <p:cNvSpPr/>
            <p:nvPr/>
          </p:nvSpPr>
          <p:spPr>
            <a:xfrm>
              <a:off x="8513380" y="890750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Solution to surrogate-constrained optimization problem</a:t>
              </a:r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BD23DA7-4C3B-D3F2-B1C3-CCCA7451A4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22508" y="1480199"/>
              <a:ext cx="482600" cy="190500"/>
            </a:xfrm>
            <a:prstGeom prst="rect">
              <a:avLst/>
            </a:prstGeom>
          </p:spPr>
        </p:pic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2794B4A-3B6A-2EEF-D583-E8C6C182A6CC}"/>
              </a:ext>
            </a:extLst>
          </p:cNvPr>
          <p:cNvGrpSpPr/>
          <p:nvPr/>
        </p:nvGrpSpPr>
        <p:grpSpPr>
          <a:xfrm>
            <a:off x="7233854" y="4235751"/>
            <a:ext cx="2900856" cy="867542"/>
            <a:chOff x="8479791" y="3656070"/>
            <a:chExt cx="2900856" cy="867542"/>
          </a:xfrm>
          <a:solidFill>
            <a:schemeClr val="bg1"/>
          </a:solidFill>
        </p:grpSpPr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BAE5C3F9-DE44-9C29-14A0-EF6A2B0EB97E}"/>
                </a:ext>
              </a:extLst>
            </p:cNvPr>
            <p:cNvSpPr/>
            <p:nvPr/>
          </p:nvSpPr>
          <p:spPr>
            <a:xfrm>
              <a:off x="8479791" y="3656070"/>
              <a:ext cx="2900856" cy="867542"/>
            </a:xfrm>
            <a:prstGeom prst="roundRect">
              <a:avLst>
                <a:gd name="adj" fmla="val 0"/>
              </a:avLst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Optimization solution update</a:t>
              </a:r>
            </a:p>
          </p:txBody>
        </p:sp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A9FD8C1C-024D-405E-D0AE-2B2F684871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297058" y="4115241"/>
              <a:ext cx="1333500" cy="165100"/>
            </a:xfrm>
            <a:prstGeom prst="rect">
              <a:avLst/>
            </a:prstGeom>
            <a:grpFill/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F8798DD-758A-C61F-A28F-6ED4F738C99B}"/>
              </a:ext>
            </a:extLst>
          </p:cNvPr>
          <p:cNvGrpSpPr/>
          <p:nvPr/>
        </p:nvGrpSpPr>
        <p:grpSpPr>
          <a:xfrm>
            <a:off x="7233854" y="2943116"/>
            <a:ext cx="2900856" cy="867542"/>
            <a:chOff x="8513380" y="4248531"/>
            <a:chExt cx="2900856" cy="867542"/>
          </a:xfrm>
        </p:grpSpPr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1677ED4E-61DD-D31D-890A-79859C156F1F}"/>
                </a:ext>
              </a:extLst>
            </p:cNvPr>
            <p:cNvSpPr/>
            <p:nvPr/>
          </p:nvSpPr>
          <p:spPr>
            <a:xfrm>
              <a:off x="8513380" y="4248531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Surrogate problem derivatives</a:t>
              </a: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F26D9879-1623-2E51-68AC-916A97E3E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681108" y="4686466"/>
              <a:ext cx="2565400" cy="215900"/>
            </a:xfrm>
            <a:prstGeom prst="rect">
              <a:avLst/>
            </a:prstGeom>
          </p:spPr>
        </p:pic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EED4753-6CCF-385E-E3B9-09F0A246B9EE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>
            <a:off x="6790338" y="4669522"/>
            <a:ext cx="44351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377E5DB-4472-FA35-C0CE-912656E37204}"/>
              </a:ext>
            </a:extLst>
          </p:cNvPr>
          <p:cNvGrpSpPr/>
          <p:nvPr/>
        </p:nvGrpSpPr>
        <p:grpSpPr>
          <a:xfrm>
            <a:off x="3889482" y="1663116"/>
            <a:ext cx="2900856" cy="867542"/>
            <a:chOff x="4645572" y="890750"/>
            <a:chExt cx="2900856" cy="867542"/>
          </a:xfrm>
        </p:grpSpPr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A0D89A2B-DA86-1610-AAF8-514CF33BD3D9}"/>
                </a:ext>
              </a:extLst>
            </p:cNvPr>
            <p:cNvSpPr/>
            <p:nvPr/>
          </p:nvSpPr>
          <p:spPr>
            <a:xfrm>
              <a:off x="4645572" y="890750"/>
              <a:ext cx="2900856" cy="867542"/>
            </a:xfrm>
            <a:prstGeom prst="round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endPara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00"/>
                </a:lnSpc>
              </a:pPr>
              <a:r>
                <a:rPr lang="en-US" sz="1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Full / surrogate data</a:t>
              </a:r>
            </a:p>
          </p:txBody>
        </p:sp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7A27402C-CBCD-0D2A-85CA-9C2963FFD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2050" y="1372679"/>
              <a:ext cx="2247900" cy="190500"/>
            </a:xfrm>
            <a:prstGeom prst="rect">
              <a:avLst/>
            </a:prstGeom>
          </p:spPr>
        </p:pic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0A74146-1B8E-9173-8386-0F1D3FE77AAA}"/>
              </a:ext>
            </a:extLst>
          </p:cNvPr>
          <p:cNvCxnSpPr>
            <a:cxnSpLocks/>
            <a:stCxn id="22" idx="2"/>
            <a:endCxn id="20" idx="0"/>
          </p:cNvCxnSpPr>
          <p:nvPr/>
        </p:nvCxnSpPr>
        <p:spPr>
          <a:xfrm>
            <a:off x="5339910" y="2530658"/>
            <a:ext cx="0" cy="1705093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CD0D19A2-B0F3-D181-5AA6-408678A394C3}"/>
              </a:ext>
            </a:extLst>
          </p:cNvPr>
          <p:cNvSpPr txBox="1"/>
          <p:nvPr/>
        </p:nvSpPr>
        <p:spPr>
          <a:xfrm>
            <a:off x="700138" y="1203306"/>
            <a:ext cx="25968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latin typeface="Arial" panose="020B0604020202020204" pitchFamily="34" charset="0"/>
                <a:cs typeface="Arial" panose="020B0604020202020204" pitchFamily="34" charset="0"/>
              </a:rPr>
              <a:t>Model discrepancy formulation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541AB3F-6E08-166D-D28D-9E8AAC5C6E14}"/>
              </a:ext>
            </a:extLst>
          </p:cNvPr>
          <p:cNvSpPr txBox="1"/>
          <p:nvPr/>
        </p:nvSpPr>
        <p:spPr>
          <a:xfrm>
            <a:off x="5400994" y="1203306"/>
            <a:ext cx="3376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4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and surrogate problem information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D1D31EC7-96B1-315B-4E65-11814D004D8F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3445966" y="4669522"/>
            <a:ext cx="443516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C00E477B-4CCC-ED24-B39A-22327BF745BA}"/>
              </a:ext>
            </a:extLst>
          </p:cNvPr>
          <p:cNvSpPr txBox="1"/>
          <p:nvPr/>
        </p:nvSpPr>
        <p:spPr>
          <a:xfrm>
            <a:off x="6021365" y="5269796"/>
            <a:ext cx="21355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Sensitivity-based update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BCDE1-EAB5-E23F-69D1-A906BDFEAD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7188" y="2099767"/>
            <a:ext cx="1536700" cy="21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11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103</Words>
  <Application>Microsoft Macintosh PowerPoint</Application>
  <PresentationFormat>Widescreen</PresentationFormat>
  <Paragraphs>49</Paragraphs>
  <Slides>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Hart, Joseph Lee</dc:creator>
  <cp:lastModifiedBy>McQuarrie, Shane Alexander</cp:lastModifiedBy>
  <cp:revision>7</cp:revision>
  <dcterms:created xsi:type="dcterms:W3CDTF">2025-03-12T21:19:29Z</dcterms:created>
  <dcterms:modified xsi:type="dcterms:W3CDTF">2025-05-06T00:15:58Z</dcterms:modified>
</cp:coreProperties>
</file>